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7"/>
  </p:notesMasterIdLst>
  <p:sldIdLst>
    <p:sldId id="291" r:id="rId2"/>
    <p:sldId id="292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6" r:id="rId21"/>
    <p:sldId id="277" r:id="rId22"/>
    <p:sldId id="278" r:id="rId23"/>
    <p:sldId id="279" r:id="rId24"/>
    <p:sldId id="280" r:id="rId25"/>
    <p:sldId id="282" r:id="rId26"/>
  </p:sldIdLst>
  <p:sldSz cx="14630400" cy="8229600"/>
  <p:notesSz cx="8229600" cy="14630400"/>
  <p:embeddedFontLst>
    <p:embeddedFont>
      <p:font typeface="Kanit Light" panose="020B0604020202020204" charset="-34"/>
      <p:regular r:id="rId28"/>
    </p:embeddedFont>
    <p:embeddedFont>
      <p:font typeface="Martel Sans" panose="020B0604020202020204" charset="0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10"/>
  </p:normalViewPr>
  <p:slideViewPr>
    <p:cSldViewPr snapToGrid="0" snapToObjects="1">
      <p:cViewPr varScale="1">
        <p:scale>
          <a:sx n="56" d="100"/>
          <a:sy n="56" d="100"/>
        </p:scale>
        <p:origin x="216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87236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20A09D-0AA0-E712-A09F-315E874AC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FDA6A5-162D-92A7-9247-B0C14395EA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F150A5-F422-065E-0F71-0822C3B07B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1B81DC-6196-A063-3D43-074B58006B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3067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A2C84-EBB9-B4DC-D379-49FCA4CE2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EB0BC2-CA33-2D7B-EEE7-CDAAD99C5C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38B9E6-EA8A-7AFD-7643-6641B968F8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EC158E-B17C-A665-5EC1-4EB2A2348B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404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2.xml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67.png"/><Relationship Id="rId4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4C4A67-2004-DDA6-1F33-EA64F5582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F1D6A9A-7416-F99F-D286-50591E6B7BD4}"/>
              </a:ext>
            </a:extLst>
          </p:cNvPr>
          <p:cNvSpPr txBox="1"/>
          <p:nvPr/>
        </p:nvSpPr>
        <p:spPr>
          <a:xfrm>
            <a:off x="2013932" y="2251469"/>
            <a:ext cx="10602536" cy="44396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300" b="1" dirty="0">
                <a:solidFill>
                  <a:srgbClr val="272D45"/>
                </a:solidFill>
                <a:latin typeface="Kanit Light" pitchFamily="34" charset="0"/>
                <a:cs typeface="Kanit Light" pitchFamily="34" charset="-120"/>
              </a:rPr>
              <a:t>Predicting Train Delays in Saudi Arabia: A Data-Driven Approach</a:t>
            </a:r>
          </a:p>
          <a:p>
            <a:pPr algn="ctr"/>
            <a:endParaRPr lang="en-US" sz="1800" dirty="0">
              <a:solidFill>
                <a:schemeClr val="tx1"/>
              </a:solidFill>
            </a:endParaRPr>
          </a:p>
          <a:p>
            <a:pPr algn="ctr"/>
            <a:endParaRPr lang="en-US" sz="2550" dirty="0">
              <a:solidFill>
                <a:srgbClr val="272D45"/>
              </a:solidFill>
              <a:latin typeface="Kanit Light" pitchFamily="34" charset="0"/>
              <a:cs typeface="Kanit Light" pitchFamily="34" charset="-120"/>
            </a:endParaRPr>
          </a:p>
          <a:p>
            <a:pPr algn="ctr"/>
            <a:endParaRPr lang="en-US" sz="2550" dirty="0">
              <a:solidFill>
                <a:srgbClr val="272D45"/>
              </a:solidFill>
              <a:latin typeface="Kanit Light" pitchFamily="34" charset="0"/>
              <a:cs typeface="Kanit Light" pitchFamily="34" charset="-120"/>
            </a:endParaRPr>
          </a:p>
          <a:p>
            <a:pPr algn="ctr"/>
            <a:r>
              <a:rPr lang="en-US" sz="2550" dirty="0">
                <a:solidFill>
                  <a:srgbClr val="272D45"/>
                </a:solidFill>
                <a:latin typeface="Kanit Light" pitchFamily="34" charset="0"/>
                <a:cs typeface="Kanit Light" pitchFamily="34" charset="-120"/>
              </a:rPr>
              <a:t>College of Computing and Informatics</a:t>
            </a:r>
          </a:p>
          <a:p>
            <a:pPr algn="ctr"/>
            <a:r>
              <a:rPr lang="en-US" sz="2550" dirty="0">
                <a:solidFill>
                  <a:srgbClr val="272D45"/>
                </a:solidFill>
                <a:latin typeface="Kanit Light" pitchFamily="34" charset="0"/>
                <a:cs typeface="Kanit Light" pitchFamily="34" charset="-120"/>
              </a:rPr>
              <a:t>Master of Data Science</a:t>
            </a:r>
          </a:p>
          <a:p>
            <a:pPr algn="ctr"/>
            <a:r>
              <a:rPr lang="en-US" sz="2550" dirty="0">
                <a:solidFill>
                  <a:srgbClr val="272D45"/>
                </a:solidFill>
                <a:latin typeface="Kanit Light" pitchFamily="34" charset="0"/>
                <a:cs typeface="Kanit Light" pitchFamily="34" charset="-120"/>
              </a:rPr>
              <a:t>DS698:Capstone Project</a:t>
            </a:r>
          </a:p>
          <a:p>
            <a:pPr algn="ctr"/>
            <a:r>
              <a:rPr lang="en-US" sz="2550" dirty="0">
                <a:solidFill>
                  <a:srgbClr val="272D45"/>
                </a:solidFill>
                <a:latin typeface="Kanit Light" pitchFamily="34" charset="0"/>
                <a:cs typeface="Kanit Light" pitchFamily="34" charset="-120"/>
              </a:rPr>
              <a:t>Mashael </a:t>
            </a:r>
            <a:r>
              <a:rPr lang="en-US" sz="2550" dirty="0" err="1">
                <a:solidFill>
                  <a:srgbClr val="272D45"/>
                </a:solidFill>
                <a:latin typeface="Kanit Light" pitchFamily="34" charset="0"/>
                <a:cs typeface="Kanit Light" pitchFamily="34" charset="-120"/>
              </a:rPr>
              <a:t>Alsogair</a:t>
            </a:r>
            <a:endParaRPr lang="en-US" sz="2550" dirty="0">
              <a:solidFill>
                <a:srgbClr val="272D45"/>
              </a:solidFill>
              <a:latin typeface="Kanit Light" pitchFamily="34" charset="0"/>
              <a:cs typeface="Kanit Light" pitchFamily="34" charset="-120"/>
            </a:endParaRPr>
          </a:p>
          <a:p>
            <a:pPr algn="ctr"/>
            <a:endParaRPr lang="en-US" sz="2550" dirty="0">
              <a:solidFill>
                <a:srgbClr val="272D45"/>
              </a:solidFill>
              <a:latin typeface="Kanit Light" pitchFamily="34" charset="0"/>
              <a:cs typeface="Kanit Light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339722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88C604-A4E1-7F2A-19E0-DB35A94E6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CF26424-F908-5002-8450-9424113758A7}"/>
              </a:ext>
            </a:extLst>
          </p:cNvPr>
          <p:cNvSpPr txBox="1"/>
          <p:nvPr/>
        </p:nvSpPr>
        <p:spPr>
          <a:xfrm>
            <a:off x="3310057" y="1074230"/>
            <a:ext cx="8010285" cy="7540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300" b="1" dirty="0">
                <a:solidFill>
                  <a:srgbClr val="272D45"/>
                </a:solidFill>
                <a:latin typeface="Kanit Light" pitchFamily="34" charset="0"/>
                <a:cs typeface="Kanit Light" pitchFamily="34" charset="-120"/>
              </a:rPr>
              <a:t>Contents</a:t>
            </a:r>
          </a:p>
        </p:txBody>
      </p:sp>
      <p:sp>
        <p:nvSpPr>
          <p:cNvPr id="2" name="Shape 2">
            <a:extLst>
              <a:ext uri="{FF2B5EF4-FFF2-40B4-BE49-F238E27FC236}">
                <a16:creationId xmlns:a16="http://schemas.microsoft.com/office/drawing/2014/main" id="{D026B10E-33BF-810B-6DA3-7BD90A63502A}"/>
              </a:ext>
            </a:extLst>
          </p:cNvPr>
          <p:cNvSpPr/>
          <p:nvPr/>
        </p:nvSpPr>
        <p:spPr>
          <a:xfrm>
            <a:off x="1040231" y="3315410"/>
            <a:ext cx="493276" cy="493276"/>
          </a:xfrm>
          <a:prstGeom prst="roundRect">
            <a:avLst>
              <a:gd name="adj" fmla="val 18669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DEC61F20-F133-9664-A4D2-30428C3BB8D7}"/>
              </a:ext>
            </a:extLst>
          </p:cNvPr>
          <p:cNvSpPr/>
          <p:nvPr/>
        </p:nvSpPr>
        <p:spPr>
          <a:xfrm>
            <a:off x="1122384" y="3356427"/>
            <a:ext cx="328851" cy="411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5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1</a:t>
            </a:r>
            <a:endParaRPr lang="en-US" sz="2550" dirty="0"/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5F22C62F-A38E-B7F1-2F6F-D317949FF7DA}"/>
              </a:ext>
            </a:extLst>
          </p:cNvPr>
          <p:cNvSpPr/>
          <p:nvPr/>
        </p:nvSpPr>
        <p:spPr>
          <a:xfrm>
            <a:off x="1752701" y="3390777"/>
            <a:ext cx="2740819" cy="342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550" dirty="0">
                <a:solidFill>
                  <a:srgbClr val="272D45"/>
                </a:solidFill>
                <a:latin typeface="Kanit Light" pitchFamily="34" charset="0"/>
                <a:cs typeface="Kanit Light" pitchFamily="34" charset="-120"/>
              </a:rPr>
              <a:t>Introduction</a:t>
            </a:r>
          </a:p>
        </p:txBody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66EDB05F-18CB-B563-39CC-1F6A3A2D5BBD}"/>
              </a:ext>
            </a:extLst>
          </p:cNvPr>
          <p:cNvSpPr/>
          <p:nvPr/>
        </p:nvSpPr>
        <p:spPr>
          <a:xfrm>
            <a:off x="1040231" y="4247193"/>
            <a:ext cx="493276" cy="493276"/>
          </a:xfrm>
          <a:prstGeom prst="roundRect">
            <a:avLst>
              <a:gd name="adj" fmla="val 18669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CAD7CA74-8B44-4DDF-5DF5-C69AED492DE1}"/>
              </a:ext>
            </a:extLst>
          </p:cNvPr>
          <p:cNvSpPr/>
          <p:nvPr/>
        </p:nvSpPr>
        <p:spPr>
          <a:xfrm>
            <a:off x="1122384" y="4288210"/>
            <a:ext cx="328851" cy="411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5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2</a:t>
            </a:r>
            <a:endParaRPr lang="en-US" sz="2550" dirty="0"/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BD69C9F2-6877-10D3-8BC5-210310747637}"/>
              </a:ext>
            </a:extLst>
          </p:cNvPr>
          <p:cNvSpPr/>
          <p:nvPr/>
        </p:nvSpPr>
        <p:spPr>
          <a:xfrm>
            <a:off x="1752701" y="4322560"/>
            <a:ext cx="2740819" cy="342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550" dirty="0">
                <a:solidFill>
                  <a:srgbClr val="272D45"/>
                </a:solidFill>
                <a:latin typeface="Kanit Light" pitchFamily="34" charset="0"/>
                <a:cs typeface="Kanit Light" pitchFamily="34" charset="-120"/>
              </a:rPr>
              <a:t>Literature Review</a:t>
            </a:r>
          </a:p>
        </p:txBody>
      </p:sp>
      <p:sp>
        <p:nvSpPr>
          <p:cNvPr id="9" name="Shape 8">
            <a:extLst>
              <a:ext uri="{FF2B5EF4-FFF2-40B4-BE49-F238E27FC236}">
                <a16:creationId xmlns:a16="http://schemas.microsoft.com/office/drawing/2014/main" id="{721224EF-307F-0D5A-C8F4-DBA7FFDC945D}"/>
              </a:ext>
            </a:extLst>
          </p:cNvPr>
          <p:cNvSpPr/>
          <p:nvPr/>
        </p:nvSpPr>
        <p:spPr>
          <a:xfrm>
            <a:off x="1040231" y="5178977"/>
            <a:ext cx="493276" cy="493276"/>
          </a:xfrm>
          <a:prstGeom prst="roundRect">
            <a:avLst>
              <a:gd name="adj" fmla="val 18669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32C8B129-5EC4-E849-62B4-18B76CAAA9FA}"/>
              </a:ext>
            </a:extLst>
          </p:cNvPr>
          <p:cNvSpPr/>
          <p:nvPr/>
        </p:nvSpPr>
        <p:spPr>
          <a:xfrm>
            <a:off x="1122384" y="5219994"/>
            <a:ext cx="328851" cy="411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5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3</a:t>
            </a:r>
            <a:endParaRPr lang="en-US" sz="2550" dirty="0"/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EB31E880-530F-94DF-1087-5463ADEDB626}"/>
              </a:ext>
            </a:extLst>
          </p:cNvPr>
          <p:cNvSpPr/>
          <p:nvPr/>
        </p:nvSpPr>
        <p:spPr>
          <a:xfrm>
            <a:off x="1752701" y="5254343"/>
            <a:ext cx="2740819" cy="342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8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Methodology</a:t>
            </a:r>
            <a:endParaRPr lang="en-US" sz="2800" dirty="0"/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16F45B86-07A3-CC95-E910-009E6440024D}"/>
              </a:ext>
            </a:extLst>
          </p:cNvPr>
          <p:cNvSpPr/>
          <p:nvPr/>
        </p:nvSpPr>
        <p:spPr>
          <a:xfrm>
            <a:off x="1040231" y="6110760"/>
            <a:ext cx="493276" cy="493276"/>
          </a:xfrm>
          <a:prstGeom prst="roundRect">
            <a:avLst>
              <a:gd name="adj" fmla="val 18669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B1546EED-1DD4-A56B-AEBA-CF6583E716F5}"/>
              </a:ext>
            </a:extLst>
          </p:cNvPr>
          <p:cNvSpPr/>
          <p:nvPr/>
        </p:nvSpPr>
        <p:spPr>
          <a:xfrm>
            <a:off x="1122384" y="6151777"/>
            <a:ext cx="328851" cy="411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5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4</a:t>
            </a:r>
            <a:endParaRPr lang="en-US" sz="2550" dirty="0"/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6F2C0564-5D8A-12AD-C1E3-87F161E6DB0E}"/>
              </a:ext>
            </a:extLst>
          </p:cNvPr>
          <p:cNvSpPr/>
          <p:nvPr/>
        </p:nvSpPr>
        <p:spPr>
          <a:xfrm>
            <a:off x="1752701" y="6186126"/>
            <a:ext cx="2740819" cy="342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5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Results &amp; Discussion </a:t>
            </a:r>
            <a:endParaRPr lang="en-US" sz="2500" dirty="0"/>
          </a:p>
        </p:txBody>
      </p:sp>
      <p:sp>
        <p:nvSpPr>
          <p:cNvPr id="15" name="Shape 14">
            <a:extLst>
              <a:ext uri="{FF2B5EF4-FFF2-40B4-BE49-F238E27FC236}">
                <a16:creationId xmlns:a16="http://schemas.microsoft.com/office/drawing/2014/main" id="{016667EF-05EC-BA59-9490-16EFF294F6DF}"/>
              </a:ext>
            </a:extLst>
          </p:cNvPr>
          <p:cNvSpPr/>
          <p:nvPr/>
        </p:nvSpPr>
        <p:spPr>
          <a:xfrm>
            <a:off x="1040231" y="7042543"/>
            <a:ext cx="493276" cy="493276"/>
          </a:xfrm>
          <a:prstGeom prst="roundRect">
            <a:avLst>
              <a:gd name="adj" fmla="val 18669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15D3672B-23A9-EA33-B626-8BDA1AC8C8F7}"/>
              </a:ext>
            </a:extLst>
          </p:cNvPr>
          <p:cNvSpPr/>
          <p:nvPr/>
        </p:nvSpPr>
        <p:spPr>
          <a:xfrm>
            <a:off x="1122384" y="7083560"/>
            <a:ext cx="328851" cy="411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5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5</a:t>
            </a:r>
            <a:endParaRPr lang="en-US" sz="2550" dirty="0"/>
          </a:p>
        </p:txBody>
      </p:sp>
      <p:sp>
        <p:nvSpPr>
          <p:cNvPr id="17" name="Text 16">
            <a:extLst>
              <a:ext uri="{FF2B5EF4-FFF2-40B4-BE49-F238E27FC236}">
                <a16:creationId xmlns:a16="http://schemas.microsoft.com/office/drawing/2014/main" id="{5633D0DB-8A7A-A19D-61A0-EEB8A9BB5524}"/>
              </a:ext>
            </a:extLst>
          </p:cNvPr>
          <p:cNvSpPr/>
          <p:nvPr/>
        </p:nvSpPr>
        <p:spPr>
          <a:xfrm>
            <a:off x="1752701" y="7117909"/>
            <a:ext cx="2740819" cy="342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5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Conclusion</a:t>
            </a:r>
            <a:endParaRPr lang="en-US" sz="2500" dirty="0"/>
          </a:p>
        </p:txBody>
      </p:sp>
    </p:spTree>
    <p:extLst>
      <p:ext uri="{BB962C8B-B14F-4D97-AF65-F5344CB8AC3E}">
        <p14:creationId xmlns:p14="http://schemas.microsoft.com/office/powerpoint/2010/main" val="39172998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011198" y="1786533"/>
            <a:ext cx="7756565" cy="685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50"/>
              </a:lnSpc>
              <a:buNone/>
            </a:pPr>
            <a:r>
              <a:rPr lang="en-US" sz="43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The Challenge of Railway Delays</a:t>
            </a:r>
            <a:endParaRPr lang="en-US" sz="4300" dirty="0"/>
          </a:p>
        </p:txBody>
      </p:sp>
      <p:sp>
        <p:nvSpPr>
          <p:cNvPr id="4" name="Shape 2"/>
          <p:cNvSpPr/>
          <p:nvPr/>
        </p:nvSpPr>
        <p:spPr>
          <a:xfrm>
            <a:off x="1011198" y="2800588"/>
            <a:ext cx="493276" cy="493276"/>
          </a:xfrm>
          <a:prstGeom prst="roundRect">
            <a:avLst>
              <a:gd name="adj" fmla="val 18669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351" y="2841605"/>
            <a:ext cx="328851" cy="41112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23668" y="2875955"/>
            <a:ext cx="2740819" cy="342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Operational Efficiency</a:t>
            </a:r>
            <a:endParaRPr lang="en-US" sz="2150" dirty="0"/>
          </a:p>
        </p:txBody>
      </p:sp>
      <p:sp>
        <p:nvSpPr>
          <p:cNvPr id="7" name="Text 4"/>
          <p:cNvSpPr/>
          <p:nvPr/>
        </p:nvSpPr>
        <p:spPr>
          <a:xfrm>
            <a:off x="1723668" y="3349943"/>
            <a:ext cx="5454491" cy="1052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Delays disrupt schedules and resource allocation, creating cascading inefficiencies throughout the network.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7452241" y="2800588"/>
            <a:ext cx="493276" cy="493276"/>
          </a:xfrm>
          <a:prstGeom prst="roundRect">
            <a:avLst>
              <a:gd name="adj" fmla="val 18669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4394" y="2841605"/>
            <a:ext cx="328851" cy="41112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164711" y="2875955"/>
            <a:ext cx="2740819" cy="342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Passenger Satisfaction</a:t>
            </a:r>
            <a:endParaRPr lang="en-US" sz="2150" dirty="0"/>
          </a:p>
        </p:txBody>
      </p:sp>
      <p:sp>
        <p:nvSpPr>
          <p:cNvPr id="11" name="Text 7"/>
          <p:cNvSpPr/>
          <p:nvPr/>
        </p:nvSpPr>
        <p:spPr>
          <a:xfrm>
            <a:off x="8164711" y="3349943"/>
            <a:ext cx="5454491" cy="70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Unpredictable service reduces customer confidence and overall experience quality.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1011198" y="4841081"/>
            <a:ext cx="493276" cy="493276"/>
          </a:xfrm>
          <a:prstGeom prst="roundRect">
            <a:avLst>
              <a:gd name="adj" fmla="val 18669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3351" y="4882098"/>
            <a:ext cx="328851" cy="41112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723668" y="4916448"/>
            <a:ext cx="2740819" cy="342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Economic Impact</a:t>
            </a:r>
            <a:endParaRPr lang="en-US" sz="2150" dirty="0"/>
          </a:p>
        </p:txBody>
      </p:sp>
      <p:sp>
        <p:nvSpPr>
          <p:cNvPr id="15" name="Text 10"/>
          <p:cNvSpPr/>
          <p:nvPr/>
        </p:nvSpPr>
        <p:spPr>
          <a:xfrm>
            <a:off x="1723668" y="5390436"/>
            <a:ext cx="5454491" cy="1052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Delays translate to productivity losses for both operators and passengers, affecting the broader economy.</a:t>
            </a:r>
            <a:endParaRPr lang="en-US" sz="1700" dirty="0"/>
          </a:p>
        </p:txBody>
      </p:sp>
      <p:sp>
        <p:nvSpPr>
          <p:cNvPr id="16" name="Shape 11"/>
          <p:cNvSpPr/>
          <p:nvPr/>
        </p:nvSpPr>
        <p:spPr>
          <a:xfrm>
            <a:off x="7452241" y="4841081"/>
            <a:ext cx="493276" cy="493276"/>
          </a:xfrm>
          <a:prstGeom prst="roundRect">
            <a:avLst>
              <a:gd name="adj" fmla="val 18669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34394" y="4882098"/>
            <a:ext cx="328851" cy="41112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164711" y="4916448"/>
            <a:ext cx="2740819" cy="342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Network Propagation</a:t>
            </a:r>
            <a:endParaRPr lang="en-US" sz="2150" dirty="0"/>
          </a:p>
        </p:txBody>
      </p:sp>
      <p:sp>
        <p:nvSpPr>
          <p:cNvPr id="19" name="Text 13"/>
          <p:cNvSpPr/>
          <p:nvPr/>
        </p:nvSpPr>
        <p:spPr>
          <a:xfrm>
            <a:off x="8164711" y="5390436"/>
            <a:ext cx="5454491" cy="70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Initial delays often cascade through interconnected segments, amplifying their impact system-wide.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011198" y="1755577"/>
            <a:ext cx="7663339" cy="685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50"/>
              </a:lnSpc>
              <a:buNone/>
            </a:pPr>
            <a:r>
              <a:rPr lang="en-US" sz="43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Key Factors Driving Train Delays</a:t>
            </a:r>
            <a:endParaRPr lang="en-US" sz="4300" dirty="0"/>
          </a:p>
        </p:txBody>
      </p:sp>
      <p:sp>
        <p:nvSpPr>
          <p:cNvPr id="4" name="Shape 2"/>
          <p:cNvSpPr/>
          <p:nvPr/>
        </p:nvSpPr>
        <p:spPr>
          <a:xfrm>
            <a:off x="1011198" y="2879288"/>
            <a:ext cx="493276" cy="493276"/>
          </a:xfrm>
          <a:prstGeom prst="roundRect">
            <a:avLst>
              <a:gd name="adj" fmla="val 18669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351" y="2920305"/>
            <a:ext cx="328851" cy="41112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23668" y="2954655"/>
            <a:ext cx="2233970" cy="6850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Operational Factors</a:t>
            </a:r>
            <a:endParaRPr lang="en-US" sz="2150" dirty="0"/>
          </a:p>
        </p:txBody>
      </p:sp>
      <p:sp>
        <p:nvSpPr>
          <p:cNvPr id="7" name="Text 4"/>
          <p:cNvSpPr/>
          <p:nvPr/>
        </p:nvSpPr>
        <p:spPr>
          <a:xfrm>
            <a:off x="1723668" y="3771186"/>
            <a:ext cx="2233970" cy="1754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Train type, speed variations, and headway deviations impact punctuality significantly.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4231719" y="2879288"/>
            <a:ext cx="493276" cy="493276"/>
          </a:xfrm>
          <a:prstGeom prst="roundRect">
            <a:avLst>
              <a:gd name="adj" fmla="val 18669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3873" y="2920305"/>
            <a:ext cx="328851" cy="41112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944189" y="2954655"/>
            <a:ext cx="2233970" cy="6850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Infrastructure Constraints</a:t>
            </a:r>
            <a:endParaRPr lang="en-US" sz="2150" dirty="0"/>
          </a:p>
        </p:txBody>
      </p:sp>
      <p:sp>
        <p:nvSpPr>
          <p:cNvPr id="11" name="Text 7"/>
          <p:cNvSpPr/>
          <p:nvPr/>
        </p:nvSpPr>
        <p:spPr>
          <a:xfrm>
            <a:off x="4944189" y="3771186"/>
            <a:ext cx="2233970" cy="1754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Station layout and terminal congestion create bottlenecks throughout the network.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7452241" y="2879288"/>
            <a:ext cx="493276" cy="493276"/>
          </a:xfrm>
          <a:prstGeom prst="roundRect">
            <a:avLst>
              <a:gd name="adj" fmla="val 18669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4394" y="2920305"/>
            <a:ext cx="328851" cy="41112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164711" y="2954655"/>
            <a:ext cx="2233970" cy="342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Calendar Events</a:t>
            </a:r>
            <a:endParaRPr lang="en-US" sz="2150" dirty="0"/>
          </a:p>
        </p:txBody>
      </p:sp>
      <p:sp>
        <p:nvSpPr>
          <p:cNvPr id="15" name="Text 10"/>
          <p:cNvSpPr/>
          <p:nvPr/>
        </p:nvSpPr>
        <p:spPr>
          <a:xfrm>
            <a:off x="8164711" y="3428643"/>
            <a:ext cx="2233970" cy="1403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Holidays and special events create travel surges that strain capacity.</a:t>
            </a:r>
            <a:endParaRPr lang="en-US" sz="1700" dirty="0"/>
          </a:p>
        </p:txBody>
      </p:sp>
      <p:sp>
        <p:nvSpPr>
          <p:cNvPr id="16" name="Shape 11"/>
          <p:cNvSpPr/>
          <p:nvPr/>
        </p:nvSpPr>
        <p:spPr>
          <a:xfrm>
            <a:off x="10672763" y="2879288"/>
            <a:ext cx="493276" cy="493276"/>
          </a:xfrm>
          <a:prstGeom prst="roundRect">
            <a:avLst>
              <a:gd name="adj" fmla="val 18669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4916" y="2920305"/>
            <a:ext cx="328851" cy="41112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385233" y="2954655"/>
            <a:ext cx="2233970" cy="6850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Saudi-Specific Weather</a:t>
            </a:r>
            <a:endParaRPr lang="en-US" sz="2150" dirty="0"/>
          </a:p>
        </p:txBody>
      </p:sp>
      <p:sp>
        <p:nvSpPr>
          <p:cNvPr id="19" name="Text 13"/>
          <p:cNvSpPr/>
          <p:nvPr/>
        </p:nvSpPr>
        <p:spPr>
          <a:xfrm>
            <a:off x="11385233" y="3771186"/>
            <a:ext cx="2233970" cy="1754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Extreme heat and dust storms pose unique challenges absent in global models.</a:t>
            </a:r>
            <a:endParaRPr lang="en-US" sz="1700" dirty="0"/>
          </a:p>
        </p:txBody>
      </p:sp>
      <p:sp>
        <p:nvSpPr>
          <p:cNvPr id="20" name="Text 14"/>
          <p:cNvSpPr/>
          <p:nvPr/>
        </p:nvSpPr>
        <p:spPr>
          <a:xfrm>
            <a:off x="1011198" y="5772150"/>
            <a:ext cx="12608004" cy="70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Understanding these interconnected factors requires tailored predictive models that account for Saudi Arabia's distinctive environmental and operational landscape.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086088" y="839629"/>
            <a:ext cx="11845171" cy="676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Machine Learning Approaches to Delay Prediction</a:t>
            </a:r>
            <a:endParaRPr lang="en-US" sz="4250" dirty="0"/>
          </a:p>
        </p:txBody>
      </p:sp>
      <p:sp>
        <p:nvSpPr>
          <p:cNvPr id="4" name="Text 2"/>
          <p:cNvSpPr/>
          <p:nvPr/>
        </p:nvSpPr>
        <p:spPr>
          <a:xfrm>
            <a:off x="1086088" y="1949887"/>
            <a:ext cx="1245810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Advanced algorithms transform complex railway data into actionable delay predictions.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1329809" y="2540318"/>
            <a:ext cx="30480" cy="4857869"/>
          </a:xfrm>
          <a:prstGeom prst="roundRect">
            <a:avLst>
              <a:gd name="adj" fmla="val 298546"/>
            </a:avLst>
          </a:prstGeom>
          <a:solidFill>
            <a:srgbClr val="C5D2CF"/>
          </a:solidFill>
          <a:ln/>
        </p:spPr>
      </p:sp>
      <p:sp>
        <p:nvSpPr>
          <p:cNvPr id="6" name="Shape 4"/>
          <p:cNvSpPr/>
          <p:nvPr/>
        </p:nvSpPr>
        <p:spPr>
          <a:xfrm>
            <a:off x="1543050" y="2768798"/>
            <a:ext cx="649962" cy="30480"/>
          </a:xfrm>
          <a:prstGeom prst="roundRect">
            <a:avLst>
              <a:gd name="adj" fmla="val 298546"/>
            </a:avLst>
          </a:prstGeom>
          <a:solidFill>
            <a:srgbClr val="C5D2CF"/>
          </a:solidFill>
          <a:ln/>
        </p:spPr>
      </p:sp>
      <p:sp>
        <p:nvSpPr>
          <p:cNvPr id="7" name="Shape 5"/>
          <p:cNvSpPr/>
          <p:nvPr/>
        </p:nvSpPr>
        <p:spPr>
          <a:xfrm>
            <a:off x="1086088" y="2540318"/>
            <a:ext cx="487442" cy="487442"/>
          </a:xfrm>
          <a:prstGeom prst="roundRect">
            <a:avLst>
              <a:gd name="adj" fmla="val 18668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7348" y="2580977"/>
            <a:ext cx="324922" cy="40612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413040" y="2614732"/>
            <a:ext cx="2708196" cy="338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Statistical Regression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2413040" y="3083123"/>
            <a:ext cx="11131153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Effective for continuous delay estimation but struggles with non-linear relationships.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1543050" y="4091583"/>
            <a:ext cx="649962" cy="30480"/>
          </a:xfrm>
          <a:prstGeom prst="roundRect">
            <a:avLst>
              <a:gd name="adj" fmla="val 298546"/>
            </a:avLst>
          </a:prstGeom>
          <a:solidFill>
            <a:srgbClr val="C5D2CF"/>
          </a:solidFill>
          <a:ln/>
        </p:spPr>
      </p:sp>
      <p:sp>
        <p:nvSpPr>
          <p:cNvPr id="12" name="Shape 9"/>
          <p:cNvSpPr/>
          <p:nvPr/>
        </p:nvSpPr>
        <p:spPr>
          <a:xfrm>
            <a:off x="1086088" y="3863102"/>
            <a:ext cx="487442" cy="487442"/>
          </a:xfrm>
          <a:prstGeom prst="roundRect">
            <a:avLst>
              <a:gd name="adj" fmla="val 18668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7348" y="3903762"/>
            <a:ext cx="324922" cy="40612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413040" y="3937516"/>
            <a:ext cx="2708196" cy="338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Conventional ML</a:t>
            </a:r>
            <a:endParaRPr lang="en-US" sz="2100" dirty="0"/>
          </a:p>
        </p:txBody>
      </p:sp>
      <p:sp>
        <p:nvSpPr>
          <p:cNvPr id="15" name="Text 11"/>
          <p:cNvSpPr/>
          <p:nvPr/>
        </p:nvSpPr>
        <p:spPr>
          <a:xfrm>
            <a:off x="2413040" y="4405908"/>
            <a:ext cx="11131153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SVR, Decision Trees, and Gradient Boosting balance interpretability with predictive power.</a:t>
            </a:r>
            <a:endParaRPr lang="en-US" sz="1700" dirty="0"/>
          </a:p>
        </p:txBody>
      </p:sp>
      <p:sp>
        <p:nvSpPr>
          <p:cNvPr id="16" name="Shape 12"/>
          <p:cNvSpPr/>
          <p:nvPr/>
        </p:nvSpPr>
        <p:spPr>
          <a:xfrm>
            <a:off x="1543050" y="5414367"/>
            <a:ext cx="649962" cy="30480"/>
          </a:xfrm>
          <a:prstGeom prst="roundRect">
            <a:avLst>
              <a:gd name="adj" fmla="val 298546"/>
            </a:avLst>
          </a:prstGeom>
          <a:solidFill>
            <a:srgbClr val="C5D2CF"/>
          </a:solidFill>
          <a:ln/>
        </p:spPr>
      </p:sp>
      <p:sp>
        <p:nvSpPr>
          <p:cNvPr id="17" name="Shape 13"/>
          <p:cNvSpPr/>
          <p:nvPr/>
        </p:nvSpPr>
        <p:spPr>
          <a:xfrm>
            <a:off x="1086088" y="5185886"/>
            <a:ext cx="487442" cy="487442"/>
          </a:xfrm>
          <a:prstGeom prst="roundRect">
            <a:avLst>
              <a:gd name="adj" fmla="val 18668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7348" y="5226546"/>
            <a:ext cx="324922" cy="40612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2413040" y="5260300"/>
            <a:ext cx="2708196" cy="338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Deep Learning</a:t>
            </a:r>
            <a:endParaRPr lang="en-US" sz="2100" dirty="0"/>
          </a:p>
        </p:txBody>
      </p:sp>
      <p:sp>
        <p:nvSpPr>
          <p:cNvPr id="20" name="Text 15"/>
          <p:cNvSpPr/>
          <p:nvPr/>
        </p:nvSpPr>
        <p:spPr>
          <a:xfrm>
            <a:off x="2413040" y="5728692"/>
            <a:ext cx="11131153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MLP and Deep Extreme Learning excel at capturing complex, non-linear delay patterns.</a:t>
            </a:r>
            <a:endParaRPr lang="en-US" sz="1700" dirty="0"/>
          </a:p>
        </p:txBody>
      </p:sp>
      <p:sp>
        <p:nvSpPr>
          <p:cNvPr id="21" name="Shape 16"/>
          <p:cNvSpPr/>
          <p:nvPr/>
        </p:nvSpPr>
        <p:spPr>
          <a:xfrm>
            <a:off x="1543050" y="6737152"/>
            <a:ext cx="649962" cy="30480"/>
          </a:xfrm>
          <a:prstGeom prst="roundRect">
            <a:avLst>
              <a:gd name="adj" fmla="val 298546"/>
            </a:avLst>
          </a:prstGeom>
          <a:solidFill>
            <a:srgbClr val="C5D2CF"/>
          </a:solidFill>
          <a:ln/>
        </p:spPr>
      </p:sp>
      <p:sp>
        <p:nvSpPr>
          <p:cNvPr id="22" name="Shape 17"/>
          <p:cNvSpPr/>
          <p:nvPr/>
        </p:nvSpPr>
        <p:spPr>
          <a:xfrm>
            <a:off x="1086088" y="6508671"/>
            <a:ext cx="487442" cy="487442"/>
          </a:xfrm>
          <a:prstGeom prst="roundRect">
            <a:avLst>
              <a:gd name="adj" fmla="val 18668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7348" y="6549330"/>
            <a:ext cx="324922" cy="40612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2413040" y="6583085"/>
            <a:ext cx="2708196" cy="338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Ensemble Models</a:t>
            </a:r>
            <a:endParaRPr lang="en-US" sz="2100" dirty="0"/>
          </a:p>
        </p:txBody>
      </p:sp>
      <p:sp>
        <p:nvSpPr>
          <p:cNvPr id="25" name="Text 19"/>
          <p:cNvSpPr/>
          <p:nvPr/>
        </p:nvSpPr>
        <p:spPr>
          <a:xfrm>
            <a:off x="2413040" y="7051477"/>
            <a:ext cx="11131153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LightGBM and CatBoost show superior accuracy by combining multiple algorithms.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011198" y="912138"/>
            <a:ext cx="6679049" cy="685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50"/>
              </a:lnSpc>
              <a:buNone/>
            </a:pPr>
            <a:r>
              <a:rPr lang="en-US" sz="43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Framing the Prediction Task</a:t>
            </a:r>
            <a:endParaRPr lang="en-US" sz="4300" dirty="0"/>
          </a:p>
        </p:txBody>
      </p:sp>
      <p:sp>
        <p:nvSpPr>
          <p:cNvPr id="5" name="Shape 3"/>
          <p:cNvSpPr/>
          <p:nvPr/>
        </p:nvSpPr>
        <p:spPr>
          <a:xfrm>
            <a:off x="1011198" y="2172772"/>
            <a:ext cx="12608004" cy="30480"/>
          </a:xfrm>
          <a:prstGeom prst="roundRect">
            <a:avLst>
              <a:gd name="adj" fmla="val 302139"/>
            </a:avLst>
          </a:prstGeom>
          <a:solidFill>
            <a:srgbClr val="C5D2CF"/>
          </a:solidFill>
          <a:ln/>
        </p:spPr>
      </p:sp>
      <p:sp>
        <p:nvSpPr>
          <p:cNvPr id="6" name="Shape 4"/>
          <p:cNvSpPr/>
          <p:nvPr/>
        </p:nvSpPr>
        <p:spPr>
          <a:xfrm>
            <a:off x="3005733" y="2172712"/>
            <a:ext cx="30480" cy="657701"/>
          </a:xfrm>
          <a:prstGeom prst="roundRect">
            <a:avLst>
              <a:gd name="adj" fmla="val 302139"/>
            </a:avLst>
          </a:prstGeom>
          <a:solidFill>
            <a:srgbClr val="C5D2CF"/>
          </a:solidFill>
          <a:ln/>
        </p:spPr>
      </p:sp>
      <p:sp>
        <p:nvSpPr>
          <p:cNvPr id="7" name="Shape 5"/>
          <p:cNvSpPr/>
          <p:nvPr/>
        </p:nvSpPr>
        <p:spPr>
          <a:xfrm>
            <a:off x="2774394" y="1926134"/>
            <a:ext cx="493276" cy="493276"/>
          </a:xfrm>
          <a:prstGeom prst="roundRect">
            <a:avLst>
              <a:gd name="adj" fmla="val 18669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6547" y="1967151"/>
            <a:ext cx="328851" cy="41112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80066" y="3049905"/>
            <a:ext cx="3082171" cy="342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150" b="1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Classification Approach</a:t>
            </a:r>
            <a:endParaRPr lang="en-US" sz="2150" dirty="0"/>
          </a:p>
        </p:txBody>
      </p:sp>
      <p:sp>
        <p:nvSpPr>
          <p:cNvPr id="10" name="Text 7"/>
          <p:cNvSpPr/>
          <p:nvPr/>
        </p:nvSpPr>
        <p:spPr>
          <a:xfrm>
            <a:off x="1230392" y="3523893"/>
            <a:ext cx="3581519" cy="1052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Categorizes train operations into binary states: "on-time" or "delayed".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1230392" y="4707969"/>
            <a:ext cx="3581519" cy="70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Supports direct operational decision-making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1230392" y="5486400"/>
            <a:ext cx="3581519" cy="70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Proven effective across international railways studies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7299722" y="2172712"/>
            <a:ext cx="30480" cy="657701"/>
          </a:xfrm>
          <a:prstGeom prst="roundRect">
            <a:avLst>
              <a:gd name="adj" fmla="val 302139"/>
            </a:avLst>
          </a:prstGeom>
          <a:solidFill>
            <a:srgbClr val="C5D2CF"/>
          </a:solidFill>
          <a:ln/>
        </p:spPr>
      </p:sp>
      <p:sp>
        <p:nvSpPr>
          <p:cNvPr id="14" name="Shape 11"/>
          <p:cNvSpPr/>
          <p:nvPr/>
        </p:nvSpPr>
        <p:spPr>
          <a:xfrm>
            <a:off x="7068383" y="1926134"/>
            <a:ext cx="493276" cy="493276"/>
          </a:xfrm>
          <a:prstGeom prst="roundRect">
            <a:avLst>
              <a:gd name="adj" fmla="val 18669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0537" y="1967151"/>
            <a:ext cx="328851" cy="411123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944672" y="3049905"/>
            <a:ext cx="2740819" cy="342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150" b="1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Regression Approach</a:t>
            </a:r>
            <a:endParaRPr lang="en-US" sz="2150" dirty="0"/>
          </a:p>
        </p:txBody>
      </p:sp>
      <p:sp>
        <p:nvSpPr>
          <p:cNvPr id="17" name="Text 13"/>
          <p:cNvSpPr/>
          <p:nvPr/>
        </p:nvSpPr>
        <p:spPr>
          <a:xfrm>
            <a:off x="5524381" y="3523893"/>
            <a:ext cx="3581519" cy="70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Quantifies exact delay duration in minutes with continuous values.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5524381" y="4357092"/>
            <a:ext cx="3581519" cy="70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Provides granular temporal predictions</a:t>
            </a:r>
            <a:endParaRPr lang="en-US" sz="1700" dirty="0"/>
          </a:p>
        </p:txBody>
      </p:sp>
      <p:sp>
        <p:nvSpPr>
          <p:cNvPr id="19" name="Text 15"/>
          <p:cNvSpPr/>
          <p:nvPr/>
        </p:nvSpPr>
        <p:spPr>
          <a:xfrm>
            <a:off x="5524381" y="5135523"/>
            <a:ext cx="3581519" cy="350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Enhances scheduling precision</a:t>
            </a:r>
            <a:endParaRPr lang="en-US" sz="1700" dirty="0"/>
          </a:p>
        </p:txBody>
      </p:sp>
      <p:sp>
        <p:nvSpPr>
          <p:cNvPr id="20" name="Shape 16"/>
          <p:cNvSpPr/>
          <p:nvPr/>
        </p:nvSpPr>
        <p:spPr>
          <a:xfrm>
            <a:off x="11593830" y="2172712"/>
            <a:ext cx="30480" cy="657701"/>
          </a:xfrm>
          <a:prstGeom prst="roundRect">
            <a:avLst>
              <a:gd name="adj" fmla="val 302139"/>
            </a:avLst>
          </a:prstGeom>
          <a:solidFill>
            <a:srgbClr val="C5D2CF"/>
          </a:solidFill>
          <a:ln/>
        </p:spPr>
      </p:sp>
      <p:sp>
        <p:nvSpPr>
          <p:cNvPr id="21" name="Shape 17"/>
          <p:cNvSpPr/>
          <p:nvPr/>
        </p:nvSpPr>
        <p:spPr>
          <a:xfrm>
            <a:off x="11362492" y="1926134"/>
            <a:ext cx="493276" cy="493276"/>
          </a:xfrm>
          <a:prstGeom prst="roundRect">
            <a:avLst>
              <a:gd name="adj" fmla="val 18669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44645" y="1967151"/>
            <a:ext cx="328851" cy="411123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0170557" y="3049905"/>
            <a:ext cx="2877264" cy="342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150" b="1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Research Applications</a:t>
            </a:r>
            <a:endParaRPr lang="en-US" sz="2150" dirty="0"/>
          </a:p>
        </p:txBody>
      </p:sp>
      <p:sp>
        <p:nvSpPr>
          <p:cNvPr id="24" name="Text 19"/>
          <p:cNvSpPr/>
          <p:nvPr/>
        </p:nvSpPr>
        <p:spPr>
          <a:xfrm>
            <a:off x="9818370" y="3523893"/>
            <a:ext cx="3581638" cy="1052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Saudi Arabia's implementation builds on global precedents with local adaptations.</a:t>
            </a:r>
            <a:endParaRPr lang="en-US" sz="1700" dirty="0"/>
          </a:p>
        </p:txBody>
      </p:sp>
      <p:sp>
        <p:nvSpPr>
          <p:cNvPr id="25" name="Text 20"/>
          <p:cNvSpPr/>
          <p:nvPr/>
        </p:nvSpPr>
        <p:spPr>
          <a:xfrm>
            <a:off x="9818370" y="4707969"/>
            <a:ext cx="3581638" cy="70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French railways: SVM and Random Forest algorithms</a:t>
            </a:r>
            <a:endParaRPr lang="en-US" sz="1700" dirty="0"/>
          </a:p>
        </p:txBody>
      </p:sp>
      <p:sp>
        <p:nvSpPr>
          <p:cNvPr id="26" name="Text 21"/>
          <p:cNvSpPr/>
          <p:nvPr/>
        </p:nvSpPr>
        <p:spPr>
          <a:xfrm>
            <a:off x="9818370" y="5486400"/>
            <a:ext cx="3581638" cy="70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Luxembourgish freight: Long-term prediction focus</a:t>
            </a:r>
            <a:endParaRPr lang="en-US" sz="1700" dirty="0"/>
          </a:p>
        </p:txBody>
      </p:sp>
      <p:sp>
        <p:nvSpPr>
          <p:cNvPr id="27" name="Text 22"/>
          <p:cNvSpPr/>
          <p:nvPr/>
        </p:nvSpPr>
        <p:spPr>
          <a:xfrm>
            <a:off x="9818370" y="6264831"/>
            <a:ext cx="3581638" cy="1052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Saudi context: Hybrid approaches for regional challenges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011198" y="1756291"/>
            <a:ext cx="9247703" cy="685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50"/>
              </a:lnSpc>
              <a:buNone/>
            </a:pPr>
            <a:r>
              <a:rPr lang="en-US" sz="43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Saudi Arabia's Unique Context</a:t>
            </a:r>
            <a:endParaRPr lang="en-US" sz="4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198" y="2880003"/>
            <a:ext cx="548164" cy="5481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11198" y="3647361"/>
            <a:ext cx="2740819" cy="342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Extreme Climate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1011198" y="4121348"/>
            <a:ext cx="2946440" cy="1403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Temperatures exceeding 50°C, </a:t>
            </a:r>
            <a:r>
              <a:rPr lang="en-US" sz="1700" dirty="0">
                <a:solidFill>
                  <a:srgbClr val="2C3249"/>
                </a:solidFill>
                <a:latin typeface="Martel Sans" pitchFamily="34" charset="0"/>
                <a:cs typeface="Martel Sans" pitchFamily="34" charset="-120"/>
              </a:rPr>
              <a:t>sandstorms, and dust.</a:t>
            </a:r>
            <a:endParaRPr lang="en-US" sz="17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1719" y="2880003"/>
            <a:ext cx="548164" cy="54816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231719" y="3647361"/>
            <a:ext cx="2903458" cy="342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Regional Travel Patterns</a:t>
            </a:r>
            <a:endParaRPr lang="en-US" sz="2150" dirty="0"/>
          </a:p>
        </p:txBody>
      </p:sp>
      <p:sp>
        <p:nvSpPr>
          <p:cNvPr id="9" name="Text 5"/>
          <p:cNvSpPr/>
          <p:nvPr/>
        </p:nvSpPr>
        <p:spPr>
          <a:xfrm>
            <a:off x="4231719" y="4121348"/>
            <a:ext cx="2946440" cy="1052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Unique religious seasonal demand spikes.</a:t>
            </a:r>
            <a:endParaRPr lang="en-US" sz="17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241" y="2880003"/>
            <a:ext cx="548164" cy="54816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452241" y="3647361"/>
            <a:ext cx="2740819" cy="342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Operational Variability</a:t>
            </a:r>
            <a:endParaRPr lang="en-US" sz="2150" dirty="0"/>
          </a:p>
        </p:txBody>
      </p:sp>
      <p:sp>
        <p:nvSpPr>
          <p:cNvPr id="12" name="Text 7"/>
          <p:cNvSpPr/>
          <p:nvPr/>
        </p:nvSpPr>
        <p:spPr>
          <a:xfrm>
            <a:off x="7452241" y="4121348"/>
            <a:ext cx="2946440" cy="1403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New infrastructure with evolving operational procedures requires adaptive models.</a:t>
            </a:r>
            <a:endParaRPr lang="en-US" sz="17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72763" y="2880003"/>
            <a:ext cx="548164" cy="54816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672763" y="3647361"/>
            <a:ext cx="2740819" cy="342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Limited Research</a:t>
            </a:r>
            <a:endParaRPr lang="en-US" sz="2150" dirty="0"/>
          </a:p>
        </p:txBody>
      </p:sp>
      <p:sp>
        <p:nvSpPr>
          <p:cNvPr id="15" name="Text 9"/>
          <p:cNvSpPr/>
          <p:nvPr/>
        </p:nvSpPr>
        <p:spPr>
          <a:xfrm>
            <a:off x="10672763" y="4121348"/>
            <a:ext cx="2946440" cy="1052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Global models fail to address Middle Eastern railway conditions.</a:t>
            </a:r>
            <a:endParaRPr lang="en-US" sz="1700" dirty="0"/>
          </a:p>
        </p:txBody>
      </p:sp>
      <p:sp>
        <p:nvSpPr>
          <p:cNvPr id="16" name="Text 10"/>
          <p:cNvSpPr/>
          <p:nvPr/>
        </p:nvSpPr>
        <p:spPr>
          <a:xfrm>
            <a:off x="1011198" y="5932655"/>
            <a:ext cx="12608004" cy="1782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Saudi Arabia presents a distinct railway ecosystem where global delay prediction models fall short. This research addresses this gap by developing localized frameworks that account for these unique operational realities.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011198" y="1650683"/>
            <a:ext cx="6663214" cy="685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50"/>
              </a:lnSpc>
              <a:buNone/>
            </a:pPr>
            <a:r>
              <a:rPr lang="en-US" sz="43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Research Aims &amp; Objectives</a:t>
            </a:r>
            <a:endParaRPr lang="en-US" sz="4300" dirty="0"/>
          </a:p>
        </p:txBody>
      </p:sp>
      <p:sp>
        <p:nvSpPr>
          <p:cNvPr id="4" name="Text 2"/>
          <p:cNvSpPr/>
          <p:nvPr/>
        </p:nvSpPr>
        <p:spPr>
          <a:xfrm>
            <a:off x="1011198" y="2774394"/>
            <a:ext cx="12608004" cy="70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Research Aim: </a:t>
            </a:r>
            <a:r>
              <a:rPr lang="en-US" sz="1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To develop a robust machine learning-based classification framework for predicting train delays in Saudi Arabia by integrating operational, environmental, and calendar-based features.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011198" y="3722727"/>
            <a:ext cx="12608004" cy="350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Research Objectives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11198" y="4320183"/>
            <a:ext cx="12608004" cy="70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Font typeface="+mj-lt"/>
              <a:buAutoNum type="arabicPeriod"/>
            </a:pPr>
            <a:r>
              <a:rPr lang="en-US" sz="1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Exploring key operational, temporal, and environmental delay factors using EDA and permutation-based importance analysis.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11198" y="5098613"/>
            <a:ext cx="12608004" cy="70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Font typeface="+mj-lt"/>
              <a:buAutoNum type="arabicPeriod" startAt="2"/>
            </a:pPr>
            <a:r>
              <a:rPr lang="en-US" sz="1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Training and comparing multiple classification models—Logistic Regression, SVM, Random Forest, XGBoost, and LightGBM—for binary delay prediction.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11198" y="5877044"/>
            <a:ext cx="12608004" cy="70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Font typeface="+mj-lt"/>
              <a:buAutoNum type="arabicPeriod" startAt="3"/>
            </a:pPr>
            <a:r>
              <a:rPr lang="en-US" sz="1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Evaluating the models using accuracy, precision, recall, F1-score, and AUC-ROC, with attention to overfitting diagnostics.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086088" y="839629"/>
            <a:ext cx="7005876" cy="676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Data Sources and Integration </a:t>
            </a:r>
            <a:endParaRPr lang="en-US" sz="4250" dirty="0"/>
          </a:p>
        </p:txBody>
      </p:sp>
      <p:sp>
        <p:nvSpPr>
          <p:cNvPr id="4" name="Shape 2"/>
          <p:cNvSpPr/>
          <p:nvPr/>
        </p:nvSpPr>
        <p:spPr>
          <a:xfrm>
            <a:off x="1329809" y="1949887"/>
            <a:ext cx="30480" cy="4857869"/>
          </a:xfrm>
          <a:prstGeom prst="roundRect">
            <a:avLst>
              <a:gd name="adj" fmla="val 298546"/>
            </a:avLst>
          </a:prstGeom>
          <a:solidFill>
            <a:srgbClr val="C5D2CF"/>
          </a:solidFill>
          <a:ln/>
        </p:spPr>
      </p:sp>
      <p:sp>
        <p:nvSpPr>
          <p:cNvPr id="5" name="Shape 3"/>
          <p:cNvSpPr/>
          <p:nvPr/>
        </p:nvSpPr>
        <p:spPr>
          <a:xfrm>
            <a:off x="1543050" y="2178368"/>
            <a:ext cx="649962" cy="30480"/>
          </a:xfrm>
          <a:prstGeom prst="roundRect">
            <a:avLst>
              <a:gd name="adj" fmla="val 298546"/>
            </a:avLst>
          </a:prstGeom>
          <a:solidFill>
            <a:srgbClr val="C5D2CF"/>
          </a:solidFill>
          <a:ln/>
        </p:spPr>
      </p:sp>
      <p:sp>
        <p:nvSpPr>
          <p:cNvPr id="6" name="Shape 4"/>
          <p:cNvSpPr/>
          <p:nvPr/>
        </p:nvSpPr>
        <p:spPr>
          <a:xfrm>
            <a:off x="1086088" y="1949887"/>
            <a:ext cx="487442" cy="487442"/>
          </a:xfrm>
          <a:prstGeom prst="roundRect">
            <a:avLst>
              <a:gd name="adj" fmla="val 18668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7348" y="1990546"/>
            <a:ext cx="324922" cy="40612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413040" y="2024301"/>
            <a:ext cx="2708196" cy="338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Operational Records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2413040" y="2492693"/>
            <a:ext cx="11131153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14,523 historical train operations from Saudi Arabia (2023-2024).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1543050" y="3501152"/>
            <a:ext cx="649962" cy="30480"/>
          </a:xfrm>
          <a:prstGeom prst="roundRect">
            <a:avLst>
              <a:gd name="adj" fmla="val 298546"/>
            </a:avLst>
          </a:prstGeom>
          <a:solidFill>
            <a:srgbClr val="C5D2CF"/>
          </a:solidFill>
          <a:ln/>
        </p:spPr>
      </p:sp>
      <p:sp>
        <p:nvSpPr>
          <p:cNvPr id="11" name="Shape 8"/>
          <p:cNvSpPr/>
          <p:nvPr/>
        </p:nvSpPr>
        <p:spPr>
          <a:xfrm>
            <a:off x="1086088" y="3272671"/>
            <a:ext cx="487442" cy="487442"/>
          </a:xfrm>
          <a:prstGeom prst="roundRect">
            <a:avLst>
              <a:gd name="adj" fmla="val 18668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7348" y="3313331"/>
            <a:ext cx="324922" cy="40612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413040" y="3347085"/>
            <a:ext cx="2708196" cy="338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Weather Data</a:t>
            </a:r>
            <a:endParaRPr lang="en-US" sz="2100" dirty="0"/>
          </a:p>
        </p:txBody>
      </p:sp>
      <p:sp>
        <p:nvSpPr>
          <p:cNvPr id="14" name="Text 10"/>
          <p:cNvSpPr/>
          <p:nvPr/>
        </p:nvSpPr>
        <p:spPr>
          <a:xfrm>
            <a:off x="2413040" y="3815477"/>
            <a:ext cx="11131153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Open-Meteo API data merged by operation date and city.</a:t>
            </a:r>
            <a:endParaRPr lang="en-US" sz="1700" dirty="0"/>
          </a:p>
        </p:txBody>
      </p:sp>
      <p:sp>
        <p:nvSpPr>
          <p:cNvPr id="15" name="Shape 11"/>
          <p:cNvSpPr/>
          <p:nvPr/>
        </p:nvSpPr>
        <p:spPr>
          <a:xfrm>
            <a:off x="1543050" y="4823936"/>
            <a:ext cx="649962" cy="30480"/>
          </a:xfrm>
          <a:prstGeom prst="roundRect">
            <a:avLst>
              <a:gd name="adj" fmla="val 298546"/>
            </a:avLst>
          </a:prstGeom>
          <a:solidFill>
            <a:srgbClr val="C5D2CF"/>
          </a:solidFill>
          <a:ln/>
        </p:spPr>
      </p:sp>
      <p:sp>
        <p:nvSpPr>
          <p:cNvPr id="16" name="Shape 12"/>
          <p:cNvSpPr/>
          <p:nvPr/>
        </p:nvSpPr>
        <p:spPr>
          <a:xfrm>
            <a:off x="1086088" y="4595455"/>
            <a:ext cx="487442" cy="487442"/>
          </a:xfrm>
          <a:prstGeom prst="roundRect">
            <a:avLst>
              <a:gd name="adj" fmla="val 18668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7348" y="4636115"/>
            <a:ext cx="324922" cy="40612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413040" y="4669869"/>
            <a:ext cx="2708196" cy="338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Holiday Information</a:t>
            </a:r>
            <a:endParaRPr lang="en-US" sz="2100" dirty="0"/>
          </a:p>
        </p:txBody>
      </p:sp>
      <p:sp>
        <p:nvSpPr>
          <p:cNvPr id="19" name="Text 14"/>
          <p:cNvSpPr/>
          <p:nvPr/>
        </p:nvSpPr>
        <p:spPr>
          <a:xfrm>
            <a:off x="2413040" y="5138261"/>
            <a:ext cx="11131153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Official academic calendar.</a:t>
            </a:r>
            <a:endParaRPr lang="en-US" sz="1700" dirty="0"/>
          </a:p>
        </p:txBody>
      </p:sp>
      <p:sp>
        <p:nvSpPr>
          <p:cNvPr id="20" name="Shape 15"/>
          <p:cNvSpPr/>
          <p:nvPr/>
        </p:nvSpPr>
        <p:spPr>
          <a:xfrm>
            <a:off x="1543050" y="6146721"/>
            <a:ext cx="649962" cy="30480"/>
          </a:xfrm>
          <a:prstGeom prst="roundRect">
            <a:avLst>
              <a:gd name="adj" fmla="val 298546"/>
            </a:avLst>
          </a:prstGeom>
          <a:solidFill>
            <a:srgbClr val="C5D2CF"/>
          </a:solidFill>
          <a:ln/>
        </p:spPr>
      </p:sp>
      <p:sp>
        <p:nvSpPr>
          <p:cNvPr id="21" name="Shape 16"/>
          <p:cNvSpPr/>
          <p:nvPr/>
        </p:nvSpPr>
        <p:spPr>
          <a:xfrm>
            <a:off x="1086088" y="5918240"/>
            <a:ext cx="487442" cy="487442"/>
          </a:xfrm>
          <a:prstGeom prst="roundRect">
            <a:avLst>
              <a:gd name="adj" fmla="val 18668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7348" y="5958900"/>
            <a:ext cx="324922" cy="40612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2413040" y="5992654"/>
            <a:ext cx="2708196" cy="338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Unified Dataset</a:t>
            </a:r>
            <a:endParaRPr lang="en-US" sz="2100" dirty="0"/>
          </a:p>
        </p:txBody>
      </p:sp>
      <p:sp>
        <p:nvSpPr>
          <p:cNvPr id="24" name="Text 18"/>
          <p:cNvSpPr/>
          <p:nvPr/>
        </p:nvSpPr>
        <p:spPr>
          <a:xfrm>
            <a:off x="2413040" y="6461046"/>
            <a:ext cx="11131153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Holisticmerged dataset that forms the foundation for our predictive modeling framework. </a:t>
            </a:r>
            <a:endParaRPr lang="en-US" sz="1700" dirty="0"/>
          </a:p>
        </p:txBody>
      </p:sp>
      <p:sp>
        <p:nvSpPr>
          <p:cNvPr id="25" name="Text 19"/>
          <p:cNvSpPr/>
          <p:nvPr/>
        </p:nvSpPr>
        <p:spPr>
          <a:xfrm>
            <a:off x="1086088" y="7051477"/>
            <a:ext cx="1245810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This integrated approach ensures each train record contains comprehensive contextual features. 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801535" y="771168"/>
            <a:ext cx="8303776" cy="599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Preprocessing and Feature Engineering </a:t>
            </a:r>
            <a:endParaRPr lang="en-US" sz="3750" dirty="0"/>
          </a:p>
        </p:txBody>
      </p:sp>
      <p:sp>
        <p:nvSpPr>
          <p:cNvPr id="4" name="Shape 2"/>
          <p:cNvSpPr/>
          <p:nvPr/>
        </p:nvSpPr>
        <p:spPr>
          <a:xfrm>
            <a:off x="2017276" y="1753910"/>
            <a:ext cx="22860" cy="5727859"/>
          </a:xfrm>
          <a:prstGeom prst="roundRect">
            <a:avLst>
              <a:gd name="adj" fmla="val 352349"/>
            </a:avLst>
          </a:prstGeom>
          <a:solidFill>
            <a:srgbClr val="C5D2CF"/>
          </a:solidFill>
          <a:ln/>
        </p:spPr>
      </p:sp>
      <p:sp>
        <p:nvSpPr>
          <p:cNvPr id="5" name="Shape 3"/>
          <p:cNvSpPr/>
          <p:nvPr/>
        </p:nvSpPr>
        <p:spPr>
          <a:xfrm>
            <a:off x="2210157" y="1958221"/>
            <a:ext cx="575310" cy="22860"/>
          </a:xfrm>
          <a:prstGeom prst="roundRect">
            <a:avLst>
              <a:gd name="adj" fmla="val 352349"/>
            </a:avLst>
          </a:prstGeom>
          <a:solidFill>
            <a:srgbClr val="C5D2CF"/>
          </a:solidFill>
          <a:ln/>
        </p:spPr>
      </p:sp>
      <p:sp>
        <p:nvSpPr>
          <p:cNvPr id="6" name="Shape 4"/>
          <p:cNvSpPr/>
          <p:nvPr/>
        </p:nvSpPr>
        <p:spPr>
          <a:xfrm>
            <a:off x="1801535" y="1753910"/>
            <a:ext cx="431483" cy="431483"/>
          </a:xfrm>
          <a:prstGeom prst="roundRect">
            <a:avLst>
              <a:gd name="adj" fmla="val 18667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3448" y="1789867"/>
            <a:ext cx="287655" cy="35956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976086" y="1819751"/>
            <a:ext cx="2397204" cy="299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Data Cleaning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2976086" y="2234327"/>
            <a:ext cx="9852779" cy="306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Handled Missing Values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2976086" y="2608183"/>
            <a:ext cx="9852779" cy="306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Convert features Format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2976086" y="2982039"/>
            <a:ext cx="9852779" cy="306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Normalized Date Formats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2210157" y="3876675"/>
            <a:ext cx="575310" cy="22860"/>
          </a:xfrm>
          <a:prstGeom prst="roundRect">
            <a:avLst>
              <a:gd name="adj" fmla="val 352349"/>
            </a:avLst>
          </a:prstGeom>
          <a:solidFill>
            <a:srgbClr val="C5D2CF"/>
          </a:solidFill>
          <a:ln/>
        </p:spPr>
      </p:sp>
      <p:sp>
        <p:nvSpPr>
          <p:cNvPr id="13" name="Shape 10"/>
          <p:cNvSpPr/>
          <p:nvPr/>
        </p:nvSpPr>
        <p:spPr>
          <a:xfrm>
            <a:off x="1801535" y="3672364"/>
            <a:ext cx="431483" cy="431483"/>
          </a:xfrm>
          <a:prstGeom prst="roundRect">
            <a:avLst>
              <a:gd name="adj" fmla="val 18667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3448" y="3708321"/>
            <a:ext cx="287655" cy="359569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976086" y="3738205"/>
            <a:ext cx="2397204" cy="299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Feature Engineering</a:t>
            </a:r>
            <a:endParaRPr lang="en-US" sz="1850" dirty="0"/>
          </a:p>
        </p:txBody>
      </p:sp>
      <p:sp>
        <p:nvSpPr>
          <p:cNvPr id="16" name="Text 12"/>
          <p:cNvSpPr/>
          <p:nvPr/>
        </p:nvSpPr>
        <p:spPr>
          <a:xfrm>
            <a:off x="2976086" y="4152781"/>
            <a:ext cx="9852779" cy="306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weekend flags, seasonal labels, and city-specific routing variables.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2210157" y="5047417"/>
            <a:ext cx="575310" cy="22860"/>
          </a:xfrm>
          <a:prstGeom prst="roundRect">
            <a:avLst>
              <a:gd name="adj" fmla="val 352349"/>
            </a:avLst>
          </a:prstGeom>
          <a:solidFill>
            <a:srgbClr val="C5D2CF"/>
          </a:solidFill>
          <a:ln/>
        </p:spPr>
      </p:sp>
      <p:sp>
        <p:nvSpPr>
          <p:cNvPr id="18" name="Shape 14"/>
          <p:cNvSpPr/>
          <p:nvPr/>
        </p:nvSpPr>
        <p:spPr>
          <a:xfrm>
            <a:off x="1801535" y="4843105"/>
            <a:ext cx="431483" cy="431483"/>
          </a:xfrm>
          <a:prstGeom prst="roundRect">
            <a:avLst>
              <a:gd name="adj" fmla="val 18667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3448" y="4879062"/>
            <a:ext cx="287655" cy="359569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2976086" y="4908947"/>
            <a:ext cx="2397204" cy="299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 Encoding</a:t>
            </a:r>
            <a:endParaRPr lang="en-US" sz="1850" dirty="0"/>
          </a:p>
        </p:txBody>
      </p:sp>
      <p:sp>
        <p:nvSpPr>
          <p:cNvPr id="21" name="Text 16"/>
          <p:cNvSpPr/>
          <p:nvPr/>
        </p:nvSpPr>
        <p:spPr>
          <a:xfrm>
            <a:off x="2976086" y="5323523"/>
            <a:ext cx="9852779" cy="306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Cyclical encoding for temporal feauted to preserve periodicities in railway schedules.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2976086" y="5697379"/>
            <a:ext cx="9852779" cy="306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One hot encoding for other </a:t>
            </a:r>
            <a:r>
              <a:rPr lang="en-US" sz="1500" dirty="0" err="1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catagorical</a:t>
            </a:r>
            <a:r>
              <a:rPr lang="en-US" sz="15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features.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2210157" y="6592014"/>
            <a:ext cx="575310" cy="22860"/>
          </a:xfrm>
          <a:prstGeom prst="roundRect">
            <a:avLst>
              <a:gd name="adj" fmla="val 352349"/>
            </a:avLst>
          </a:prstGeom>
          <a:solidFill>
            <a:srgbClr val="C5D2CF"/>
          </a:solidFill>
          <a:ln/>
        </p:spPr>
      </p:sp>
      <p:sp>
        <p:nvSpPr>
          <p:cNvPr id="24" name="Shape 19"/>
          <p:cNvSpPr/>
          <p:nvPr/>
        </p:nvSpPr>
        <p:spPr>
          <a:xfrm>
            <a:off x="1801535" y="6387703"/>
            <a:ext cx="431483" cy="431483"/>
          </a:xfrm>
          <a:prstGeom prst="roundRect">
            <a:avLst>
              <a:gd name="adj" fmla="val 18667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73448" y="6423660"/>
            <a:ext cx="287655" cy="359569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2976086" y="6453545"/>
            <a:ext cx="2397204" cy="299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Feature Selection</a:t>
            </a:r>
            <a:endParaRPr lang="en-US" sz="1850" dirty="0"/>
          </a:p>
        </p:txBody>
      </p:sp>
      <p:sp>
        <p:nvSpPr>
          <p:cNvPr id="27" name="Text 21"/>
          <p:cNvSpPr/>
          <p:nvPr/>
        </p:nvSpPr>
        <p:spPr>
          <a:xfrm>
            <a:off x="2976086" y="6868120"/>
            <a:ext cx="9852779" cy="61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Combined correlation analysis with permutation importance to retain high-impact, non-redundant predictors.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2171819" y="735806"/>
            <a:ext cx="7072074" cy="558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Modeling and Evaluation Framework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2373035" y="1652588"/>
            <a:ext cx="22860" cy="5103019"/>
          </a:xfrm>
          <a:prstGeom prst="roundRect">
            <a:avLst>
              <a:gd name="adj" fmla="val 328684"/>
            </a:avLst>
          </a:prstGeom>
          <a:solidFill>
            <a:srgbClr val="C5D2CF"/>
          </a:solidFill>
          <a:ln/>
        </p:spPr>
      </p:sp>
      <p:sp>
        <p:nvSpPr>
          <p:cNvPr id="5" name="Shape 3"/>
          <p:cNvSpPr/>
          <p:nvPr/>
        </p:nvSpPr>
        <p:spPr>
          <a:xfrm>
            <a:off x="2551390" y="1842373"/>
            <a:ext cx="536615" cy="22860"/>
          </a:xfrm>
          <a:prstGeom prst="roundRect">
            <a:avLst>
              <a:gd name="adj" fmla="val 328684"/>
            </a:avLst>
          </a:prstGeom>
          <a:solidFill>
            <a:srgbClr val="C5D2CF"/>
          </a:solidFill>
          <a:ln/>
        </p:spPr>
      </p:sp>
      <p:sp>
        <p:nvSpPr>
          <p:cNvPr id="6" name="Shape 4"/>
          <p:cNvSpPr/>
          <p:nvPr/>
        </p:nvSpPr>
        <p:spPr>
          <a:xfrm>
            <a:off x="2171819" y="1652588"/>
            <a:ext cx="402431" cy="402431"/>
          </a:xfrm>
          <a:prstGeom prst="roundRect">
            <a:avLst>
              <a:gd name="adj" fmla="val 18671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8911" y="1686104"/>
            <a:ext cx="268248" cy="33539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67551" y="1714024"/>
            <a:ext cx="2236113" cy="279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Model Selection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3267551" y="2100739"/>
            <a:ext cx="9191030" cy="286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Five classifiers: Logistic Regression –as bassline model-, SVM, Random Forest, XGBoost, and LightGBM.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2551390" y="2934533"/>
            <a:ext cx="536615" cy="22860"/>
          </a:xfrm>
          <a:prstGeom prst="roundRect">
            <a:avLst>
              <a:gd name="adj" fmla="val 328684"/>
            </a:avLst>
          </a:prstGeom>
          <a:solidFill>
            <a:srgbClr val="C5D2CF"/>
          </a:solidFill>
          <a:ln/>
        </p:spPr>
      </p:sp>
      <p:sp>
        <p:nvSpPr>
          <p:cNvPr id="11" name="Shape 8"/>
          <p:cNvSpPr/>
          <p:nvPr/>
        </p:nvSpPr>
        <p:spPr>
          <a:xfrm>
            <a:off x="2171819" y="2744748"/>
            <a:ext cx="402431" cy="402431"/>
          </a:xfrm>
          <a:prstGeom prst="roundRect">
            <a:avLst>
              <a:gd name="adj" fmla="val 18671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8911" y="2778264"/>
            <a:ext cx="268248" cy="33539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267551" y="2806184"/>
            <a:ext cx="2236113" cy="279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Data Split</a:t>
            </a:r>
            <a:endParaRPr lang="en-US" sz="1750" dirty="0"/>
          </a:p>
        </p:txBody>
      </p:sp>
      <p:sp>
        <p:nvSpPr>
          <p:cNvPr id="14" name="Text 10"/>
          <p:cNvSpPr/>
          <p:nvPr/>
        </p:nvSpPr>
        <p:spPr>
          <a:xfrm>
            <a:off x="3267551" y="3192899"/>
            <a:ext cx="9191030" cy="286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80% training, 20% testing to ensure robust evaluation.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2551390" y="4026694"/>
            <a:ext cx="536615" cy="22860"/>
          </a:xfrm>
          <a:prstGeom prst="roundRect">
            <a:avLst>
              <a:gd name="adj" fmla="val 328684"/>
            </a:avLst>
          </a:prstGeom>
          <a:solidFill>
            <a:srgbClr val="C5D2CF"/>
          </a:solidFill>
          <a:ln/>
        </p:spPr>
      </p:sp>
      <p:sp>
        <p:nvSpPr>
          <p:cNvPr id="16" name="Shape 12"/>
          <p:cNvSpPr/>
          <p:nvPr/>
        </p:nvSpPr>
        <p:spPr>
          <a:xfrm>
            <a:off x="2171819" y="3836908"/>
            <a:ext cx="402431" cy="402431"/>
          </a:xfrm>
          <a:prstGeom prst="roundRect">
            <a:avLst>
              <a:gd name="adj" fmla="val 18671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38911" y="3870424"/>
            <a:ext cx="268248" cy="335399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267551" y="3898344"/>
            <a:ext cx="2336959" cy="279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Hyperparameter Tuning</a:t>
            </a:r>
            <a:endParaRPr lang="en-US" sz="1750" dirty="0"/>
          </a:p>
        </p:txBody>
      </p:sp>
      <p:sp>
        <p:nvSpPr>
          <p:cNvPr id="19" name="Text 14"/>
          <p:cNvSpPr/>
          <p:nvPr/>
        </p:nvSpPr>
        <p:spPr>
          <a:xfrm>
            <a:off x="3267551" y="4285059"/>
            <a:ext cx="9191030" cy="286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 err="1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RandomizedSearchCV</a:t>
            </a: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.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2551390" y="5118854"/>
            <a:ext cx="536615" cy="22860"/>
          </a:xfrm>
          <a:prstGeom prst="roundRect">
            <a:avLst>
              <a:gd name="adj" fmla="val 328684"/>
            </a:avLst>
          </a:prstGeom>
          <a:solidFill>
            <a:srgbClr val="C5D2CF"/>
          </a:solidFill>
          <a:ln/>
        </p:spPr>
      </p:sp>
      <p:sp>
        <p:nvSpPr>
          <p:cNvPr id="21" name="Shape 16"/>
          <p:cNvSpPr/>
          <p:nvPr/>
        </p:nvSpPr>
        <p:spPr>
          <a:xfrm>
            <a:off x="2171819" y="4929068"/>
            <a:ext cx="402431" cy="402431"/>
          </a:xfrm>
          <a:prstGeom prst="roundRect">
            <a:avLst>
              <a:gd name="adj" fmla="val 18671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38911" y="4962585"/>
            <a:ext cx="268248" cy="335399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3267551" y="4990505"/>
            <a:ext cx="2236113" cy="279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Evaluation Metrics</a:t>
            </a:r>
            <a:endParaRPr lang="en-US" sz="1750" dirty="0"/>
          </a:p>
        </p:txBody>
      </p:sp>
      <p:sp>
        <p:nvSpPr>
          <p:cNvPr id="24" name="Text 18"/>
          <p:cNvSpPr/>
          <p:nvPr/>
        </p:nvSpPr>
        <p:spPr>
          <a:xfrm>
            <a:off x="3267551" y="5377220"/>
            <a:ext cx="9191030" cy="286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AUC-ROC (primary), F1-score, precision, recall, and accuracy.</a:t>
            </a:r>
            <a:endParaRPr lang="en-US" sz="1400" dirty="0"/>
          </a:p>
        </p:txBody>
      </p:sp>
      <p:sp>
        <p:nvSpPr>
          <p:cNvPr id="25" name="Shape 19"/>
          <p:cNvSpPr/>
          <p:nvPr/>
        </p:nvSpPr>
        <p:spPr>
          <a:xfrm>
            <a:off x="2551390" y="6211014"/>
            <a:ext cx="536615" cy="22860"/>
          </a:xfrm>
          <a:prstGeom prst="roundRect">
            <a:avLst>
              <a:gd name="adj" fmla="val 328684"/>
            </a:avLst>
          </a:prstGeom>
          <a:solidFill>
            <a:srgbClr val="C5D2CF"/>
          </a:solidFill>
          <a:ln/>
        </p:spPr>
      </p:sp>
      <p:sp>
        <p:nvSpPr>
          <p:cNvPr id="26" name="Shape 20"/>
          <p:cNvSpPr/>
          <p:nvPr/>
        </p:nvSpPr>
        <p:spPr>
          <a:xfrm>
            <a:off x="2171819" y="6021229"/>
            <a:ext cx="402431" cy="402431"/>
          </a:xfrm>
          <a:prstGeom prst="roundRect">
            <a:avLst>
              <a:gd name="adj" fmla="val 18671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38911" y="6054745"/>
            <a:ext cx="268248" cy="335399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267551" y="6082665"/>
            <a:ext cx="2236113" cy="279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Overfitting Analysis</a:t>
            </a:r>
            <a:endParaRPr lang="en-US" sz="1750" dirty="0"/>
          </a:p>
        </p:txBody>
      </p:sp>
      <p:sp>
        <p:nvSpPr>
          <p:cNvPr id="29" name="Text 22"/>
          <p:cNvSpPr/>
          <p:nvPr/>
        </p:nvSpPr>
        <p:spPr>
          <a:xfrm>
            <a:off x="3267551" y="6469380"/>
            <a:ext cx="9191030" cy="286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Train-test ROC AUC gap assessment for model reliability.</a:t>
            </a:r>
            <a:endParaRPr lang="en-US" sz="1400" dirty="0"/>
          </a:p>
        </p:txBody>
      </p:sp>
      <p:sp>
        <p:nvSpPr>
          <p:cNvPr id="30" name="Text 23"/>
          <p:cNvSpPr/>
          <p:nvPr/>
        </p:nvSpPr>
        <p:spPr>
          <a:xfrm>
            <a:off x="2171819" y="6956822"/>
            <a:ext cx="10286762" cy="572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This comprehensive framework ensures fair comparison between models while identifying the most effective classifier for railway delay prediction.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950125" y="756999"/>
            <a:ext cx="8958024" cy="583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50"/>
              </a:lnSpc>
              <a:buNone/>
            </a:pPr>
            <a:r>
              <a:rPr lang="en-US" sz="36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Exploratory Data Insights: Class Distribution</a:t>
            </a:r>
            <a:endParaRPr lang="en-US" sz="3650" dirty="0"/>
          </a:p>
        </p:txBody>
      </p:sp>
      <p:sp>
        <p:nvSpPr>
          <p:cNvPr id="4" name="Shape 2"/>
          <p:cNvSpPr/>
          <p:nvPr/>
        </p:nvSpPr>
        <p:spPr>
          <a:xfrm>
            <a:off x="1950125" y="1713190"/>
            <a:ext cx="419814" cy="419814"/>
          </a:xfrm>
          <a:prstGeom prst="roundRect">
            <a:avLst>
              <a:gd name="adj" fmla="val 18669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0133" y="1748195"/>
            <a:ext cx="279797" cy="34980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556510" y="1777246"/>
            <a:ext cx="2332553" cy="291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Initial Analysis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2556510" y="2180630"/>
            <a:ext cx="2814876" cy="1193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Our exploratory analysis revealed significant class imbalance in the dataset.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5604629" y="1713190"/>
            <a:ext cx="419814" cy="419814"/>
          </a:xfrm>
          <a:prstGeom prst="roundRect">
            <a:avLst>
              <a:gd name="adj" fmla="val 18669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4638" y="1748195"/>
            <a:ext cx="279797" cy="34980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211014" y="1777246"/>
            <a:ext cx="2332553" cy="291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Key Metric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6211014" y="2180630"/>
            <a:ext cx="2814876" cy="2089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With 73.1% of trains arriving on time, standard classification models would likely favor the majority class. This observation drove our implementation of cost-sensitive learning techniques.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9259133" y="1713190"/>
            <a:ext cx="419814" cy="419814"/>
          </a:xfrm>
          <a:prstGeom prst="roundRect">
            <a:avLst>
              <a:gd name="adj" fmla="val 18669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9142" y="1748195"/>
            <a:ext cx="279797" cy="34980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865519" y="1777246"/>
            <a:ext cx="2332553" cy="291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Impact &amp; Strategy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9865519" y="2180630"/>
            <a:ext cx="2814876" cy="1492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Addressing this imbalance was crucial to develop models that effectively predict the minority class (delays) without sacrificing overall performance.</a:t>
            </a:r>
            <a:endParaRPr lang="en-US" sz="14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92523" y="4479965"/>
            <a:ext cx="6645354" cy="301680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368754" y="621268"/>
            <a:ext cx="6742748" cy="428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7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Exploratory Data Insights II — Route Patterns</a:t>
            </a:r>
            <a:endParaRPr lang="en-US" sz="2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8754" y="1324570"/>
            <a:ext cx="343138" cy="34313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368754" y="1804868"/>
            <a:ext cx="2516505" cy="219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Daily Operations</a:t>
            </a: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3368754" y="2106692"/>
            <a:ext cx="2516505" cy="658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An average of 20 trains operate daily across the railway network.</a:t>
            </a:r>
            <a:endParaRPr lang="en-US" sz="16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6828" y="1324570"/>
            <a:ext cx="343138" cy="34313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056828" y="1804868"/>
            <a:ext cx="2516505" cy="219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Route Popularity</a:t>
            </a: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6056828" y="2106692"/>
            <a:ext cx="2516505" cy="658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"Riyadh – Dammam" emerges as the most frequently traveled route, while "Riyadh – Jouf" shows minimal traffic.</a:t>
            </a:r>
            <a:endParaRPr lang="en-US" sz="16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44903" y="1324570"/>
            <a:ext cx="343138" cy="34313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744903" y="1804868"/>
            <a:ext cx="2516624" cy="219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Delay Distribution</a:t>
            </a:r>
            <a:endParaRPr lang="en-US" dirty="0"/>
          </a:p>
        </p:txBody>
      </p:sp>
      <p:sp>
        <p:nvSpPr>
          <p:cNvPr id="12" name="Text 7"/>
          <p:cNvSpPr/>
          <p:nvPr/>
        </p:nvSpPr>
        <p:spPr>
          <a:xfrm>
            <a:off x="8744903" y="2106692"/>
            <a:ext cx="2694062" cy="1013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"Dammam – Riyadh" route demonstrates significantly higher delay frequencies compared to other connections.</a:t>
            </a:r>
            <a:endParaRPr lang="en-US" sz="16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68754" y="3348463"/>
            <a:ext cx="343138" cy="34313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3368754" y="3704419"/>
            <a:ext cx="1715810" cy="214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b="1" dirty="0">
                <a:solidFill>
                  <a:srgbClr val="2C3249"/>
                </a:solidFill>
                <a:latin typeface="Martel Sans" pitchFamily="34" charset="0"/>
                <a:cs typeface="Martel Sans" pitchFamily="34" charset="-120"/>
              </a:rPr>
              <a:t>Route Length</a:t>
            </a:r>
          </a:p>
        </p:txBody>
      </p:sp>
      <p:sp>
        <p:nvSpPr>
          <p:cNvPr id="15" name="Text 9"/>
          <p:cNvSpPr/>
          <p:nvPr/>
        </p:nvSpPr>
        <p:spPr>
          <a:xfrm>
            <a:off x="3368754" y="3919716"/>
            <a:ext cx="5303105" cy="439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dirty="0">
                <a:solidFill>
                  <a:srgbClr val="2C3249"/>
                </a:solidFill>
                <a:latin typeface="Martel Sans" pitchFamily="34" charset="0"/>
                <a:cs typeface="Martel Sans" pitchFamily="34" charset="-120"/>
              </a:rPr>
              <a:t>Association between longer journey durations and reduced punctuality</a:t>
            </a:r>
          </a:p>
        </p:txBody>
      </p:sp>
      <p:sp>
        <p:nvSpPr>
          <p:cNvPr id="16" name="Text 10"/>
          <p:cNvSpPr/>
          <p:nvPr/>
        </p:nvSpPr>
        <p:spPr>
          <a:xfrm>
            <a:off x="3368694" y="4537293"/>
            <a:ext cx="7892772" cy="428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00" b="1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Modeling Implications:</a:t>
            </a:r>
            <a:r>
              <a:rPr lang="en-US" sz="16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 These route-specific patterns provide crucial differentiating factors for our predictive delay models.</a:t>
            </a:r>
            <a:endParaRPr lang="en-US" sz="16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04147" y="5316022"/>
            <a:ext cx="5421987" cy="237160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135630" y="643533"/>
            <a:ext cx="7240786" cy="4543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8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Exploratory Data Insight III – Calendar Factors</a:t>
            </a:r>
            <a:endParaRPr lang="en-US" sz="28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630" y="1388626"/>
            <a:ext cx="363379" cy="36337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135630" y="1897380"/>
            <a:ext cx="4088725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Public Holiday Impact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135630" y="2244236"/>
            <a:ext cx="4270415" cy="465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Long weekends and holidays showed markedly increased delay rates across the railway network.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135630" y="2956059"/>
            <a:ext cx="4088725" cy="465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Passenger volume surges create significant operational pressure during these periods.</a:t>
            </a:r>
            <a:endParaRPr lang="en-US" sz="16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045" y="1388626"/>
            <a:ext cx="363379" cy="36337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406045" y="1897380"/>
            <a:ext cx="4088725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Temporal Patterns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7406045" y="2217063"/>
            <a:ext cx="4088725" cy="465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Month-to-month variations revealed seasonal delay trends throughout the year.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7406044" y="2942968"/>
            <a:ext cx="4088725" cy="465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Year-over-year comparison between 2023-2024 captured evolving operational dynamics.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3135630" y="3855655"/>
            <a:ext cx="8359140" cy="454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600" b="1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Modling Implication:</a:t>
            </a:r>
            <a:r>
              <a:rPr lang="en-US" sz="16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 Incorporating such features into machine learning models enhances contextual awareness and enables more accurate identification of high-risk periods.</a:t>
            </a:r>
            <a:endParaRPr lang="en-US" sz="16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35630" y="4473185"/>
            <a:ext cx="3529370" cy="3206234"/>
          </a:xfrm>
          <a:prstGeom prst="rect">
            <a:avLst/>
          </a:prstGeom>
        </p:spPr>
      </p:pic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00104" y="4503067"/>
            <a:ext cx="3319343" cy="246316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077289" y="649129"/>
            <a:ext cx="8358664" cy="4605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9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Exploratory Data Insight IV – Environmental Factors</a:t>
            </a:r>
            <a:endParaRPr lang="en-US" sz="29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7289" y="1404461"/>
            <a:ext cx="442198" cy="44219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077288" y="1994059"/>
            <a:ext cx="5433205" cy="942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6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Categorical Weather Conditions</a:t>
            </a:r>
            <a:r>
              <a:rPr lang="en-US" sz="16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
Delays were significantly more frequent under weather events such as rainfall, whereas clear skies and mild conditions correlated with improved punctuality. </a:t>
            </a:r>
            <a:endParaRPr lang="en-US" sz="16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4482" y="1404461"/>
            <a:ext cx="442198" cy="44219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560694" y="1931670"/>
            <a:ext cx="4145756" cy="1005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6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Numerical Weather Features
</a:t>
            </a:r>
            <a:r>
              <a:rPr lang="en-US" sz="16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Delayed journeys tended to experience slightly higher wind speeds and gust values. 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3077289" y="3302317"/>
            <a:ext cx="8475702" cy="691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Modling Implication:</a:t>
            </a:r>
            <a:r>
              <a:rPr lang="en-US" sz="16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 Including such features enables the models to account for environmental disruptions that may not be obvious through operational data alone, thereby enhancing the robustness and responsiveness of the predictive framework.</a:t>
            </a:r>
            <a:endParaRPr lang="en-US" sz="16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77289" y="4236125"/>
            <a:ext cx="3578543" cy="3250883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02485" y="4236125"/>
            <a:ext cx="3365659" cy="271867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2059662" y="746522"/>
            <a:ext cx="6672143" cy="571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Feature Importance and Inclusion</a:t>
            </a:r>
            <a:endParaRPr lang="en-US" sz="3550" dirty="0"/>
          </a:p>
        </p:txBody>
      </p:sp>
      <p:sp>
        <p:nvSpPr>
          <p:cNvPr id="4" name="Text 2"/>
          <p:cNvSpPr/>
          <p:nvPr/>
        </p:nvSpPr>
        <p:spPr>
          <a:xfrm>
            <a:off x="2059662" y="1591747"/>
            <a:ext cx="10510957" cy="856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To determine the most informative variables for classification, a combination of correlation analysis, Random Forest feature rankings, and permutation importance was employed. The correlation matrix was first used to identify and eliminate highly collinear features</a:t>
            </a:r>
            <a:endParaRPr lang="en-US" sz="1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9662" y="2722364"/>
            <a:ext cx="548283" cy="54828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059662" y="3453408"/>
            <a:ext cx="3351252" cy="2339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Core Predictor of Train Delay</a:t>
            </a: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
Random Forest importance scores and permutation analysis then revealed that </a:t>
            </a:r>
            <a:r>
              <a:rPr lang="en-US" sz="14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journey time</a:t>
            </a: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was the most influential predictor. Its high permutation importance score (0.2543, p &lt; 0.001) indicates a strong relationship with delay outcomes.</a:t>
            </a:r>
            <a:endParaRPr lang="en-US" sz="14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9395" y="2722364"/>
            <a:ext cx="548283" cy="54828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639395" y="3453408"/>
            <a:ext cx="3351371" cy="3216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Supporting Temporal and Environmental Features</a:t>
            </a: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
Temporal features—</a:t>
            </a:r>
            <a:r>
              <a:rPr lang="en-US" sz="14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week number, day of the week, and month, year</a:t>
            </a: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—demonstrated moderate yet consistent predictive value. Environmental predictors</a:t>
            </a:r>
            <a:r>
              <a:rPr lang="en-US" sz="14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—wind speed, precipitation, and temperature— </a:t>
            </a: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were retained based on their moderate importance scores and low collinearity with one another.</a:t>
            </a:r>
            <a:endParaRPr lang="en-US" sz="14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19248" y="2722364"/>
            <a:ext cx="548283" cy="54828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219248" y="3453408"/>
            <a:ext cx="3351252" cy="292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Additional Contextual Variables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9219248" y="3855482"/>
            <a:ext cx="3351252" cy="20469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Although these features ranked lower in importance </a:t>
            </a:r>
            <a:r>
              <a:rPr lang="en-US" sz="14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—Vacation Type, Season, and Arrival City —</a:t>
            </a: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were statistically significant (</a:t>
            </a:r>
            <a:r>
              <a:rPr lang="en-US" sz="1400" i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</a:t>
            </a: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&lt; 0.05) and retained as engineered inputs, highlighting their added value in capturing contextual delay patterns.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2059662" y="6944082"/>
            <a:ext cx="10510957" cy="571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Modling Implication:</a:t>
            </a:r>
            <a:r>
              <a:rPr lang="en-US" sz="16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 The feature selection process confirmed that effective delay prediction requires a blend of internal journey characteristics and external contextual factors. 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131701" y="643890"/>
            <a:ext cx="8186142" cy="454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8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Evaluation of Machine Learning Model Performance</a:t>
            </a:r>
            <a:endParaRPr lang="en-US" sz="28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1701" y="1389459"/>
            <a:ext cx="363736" cy="3637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131701" y="1898690"/>
            <a:ext cx="2667714" cy="1364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600" b="1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Tuned LightGBM</a:t>
            </a:r>
            <a:r>
              <a:rPr lang="en-US" sz="16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 emerged as the </a:t>
            </a:r>
            <a:r>
              <a:rPr lang="en-US" sz="1600" b="1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top performer</a:t>
            </a:r>
            <a:r>
              <a:rPr lang="en-US" sz="16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 with 0.96 ROC AUC, demonstrating superior capability in handling class imbalance for train delay predictions.</a:t>
            </a:r>
            <a:endParaRPr lang="en-US" sz="16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1224" y="1389459"/>
            <a:ext cx="363736" cy="36373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981224" y="1898690"/>
            <a:ext cx="2667714" cy="1591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600" b="1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Tree-based models</a:t>
            </a:r>
            <a:r>
              <a:rPr lang="en-US" sz="16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 substantially </a:t>
            </a:r>
            <a:r>
              <a:rPr lang="en-US" sz="1600" b="1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outperformed</a:t>
            </a:r>
            <a:r>
              <a:rPr lang="en-US" sz="16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 </a:t>
            </a:r>
            <a:r>
              <a:rPr lang="en-US" sz="1600" b="1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linear classifiers</a:t>
            </a:r>
            <a:r>
              <a:rPr lang="en-US" sz="16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. XGBoost closely followed LightGBM, while Logistic Regression and SVM struggled with the nonlinear patterns in railway operations.</a:t>
            </a:r>
            <a:endParaRPr lang="en-US" sz="16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30747" y="1389459"/>
            <a:ext cx="363736" cy="36373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830747" y="1898690"/>
            <a:ext cx="2841300" cy="1591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6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This performance gap highlights the </a:t>
            </a:r>
            <a:r>
              <a:rPr lang="en-US" sz="1600" b="1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complex, nonlinear nature of delay factors in railway system</a:t>
            </a:r>
            <a:r>
              <a:rPr lang="en-US" sz="16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, requiring sophisticated ensemble methods for accurate prediction.</a:t>
            </a:r>
            <a:endParaRPr lang="en-US" sz="1600" dirty="0"/>
          </a:p>
        </p:txBody>
      </p:sp>
      <p:sp>
        <p:nvSpPr>
          <p:cNvPr id="10" name="Text 5"/>
          <p:cNvSpPr/>
          <p:nvPr/>
        </p:nvSpPr>
        <p:spPr>
          <a:xfrm>
            <a:off x="3131701" y="3654147"/>
            <a:ext cx="8366879" cy="232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endParaRPr lang="en-US" sz="1100" dirty="0"/>
          </a:p>
        </p:txBody>
      </p:sp>
      <p:sp>
        <p:nvSpPr>
          <p:cNvPr id="11" name="Shape 6"/>
          <p:cNvSpPr/>
          <p:nvPr/>
        </p:nvSpPr>
        <p:spPr>
          <a:xfrm>
            <a:off x="3131701" y="4050506"/>
            <a:ext cx="8366879" cy="3632002"/>
          </a:xfrm>
          <a:prstGeom prst="roundRect">
            <a:avLst>
              <a:gd name="adj" fmla="val 1683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3139321" y="4058126"/>
            <a:ext cx="8353306" cy="42255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3" name="Text 8"/>
          <p:cNvSpPr/>
          <p:nvPr/>
        </p:nvSpPr>
        <p:spPr>
          <a:xfrm>
            <a:off x="3284934" y="4153019"/>
            <a:ext cx="1097399" cy="232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Model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4680942" y="4153019"/>
            <a:ext cx="1093589" cy="232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Accuracy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6073140" y="4153019"/>
            <a:ext cx="1093589" cy="232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ROC AUC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7465338" y="4153019"/>
            <a:ext cx="1093589" cy="232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F1 Score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8857536" y="4153019"/>
            <a:ext cx="1093589" cy="232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10249733" y="4153019"/>
            <a:ext cx="1097399" cy="232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Recall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3139321" y="4480679"/>
            <a:ext cx="8353306" cy="37599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0" name="Text 15"/>
          <p:cNvSpPr/>
          <p:nvPr/>
        </p:nvSpPr>
        <p:spPr>
          <a:xfrm>
            <a:off x="3284934" y="4575572"/>
            <a:ext cx="1097399" cy="186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LightGBM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4680942" y="4575572"/>
            <a:ext cx="1093589" cy="186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0.9041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6073140" y="4575572"/>
            <a:ext cx="1093589" cy="186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0.9587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7465338" y="4575572"/>
            <a:ext cx="1093589" cy="186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0.9324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8857536" y="4575572"/>
            <a:ext cx="1093589" cy="186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0.9624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10249733" y="4575572"/>
            <a:ext cx="1097399" cy="186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0.9041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3139321" y="4856678"/>
            <a:ext cx="8353306" cy="37599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7" name="Text 22"/>
          <p:cNvSpPr/>
          <p:nvPr/>
        </p:nvSpPr>
        <p:spPr>
          <a:xfrm>
            <a:off x="3284934" y="4951571"/>
            <a:ext cx="1097399" cy="186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XGBoost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4680942" y="4951571"/>
            <a:ext cx="1093589" cy="186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0.8960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6073140" y="4951571"/>
            <a:ext cx="1093589" cy="186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0.9570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7465338" y="4951571"/>
            <a:ext cx="1093589" cy="186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0.9269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8857536" y="4951571"/>
            <a:ext cx="1093589" cy="186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0.9539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10249733" y="4951571"/>
            <a:ext cx="1097399" cy="186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0.9014</a:t>
            </a:r>
            <a:endParaRPr lang="en-US" sz="900" dirty="0"/>
          </a:p>
        </p:txBody>
      </p:sp>
      <p:sp>
        <p:nvSpPr>
          <p:cNvPr id="33" name="Shape 28"/>
          <p:cNvSpPr/>
          <p:nvPr/>
        </p:nvSpPr>
        <p:spPr>
          <a:xfrm>
            <a:off x="3139321" y="5232678"/>
            <a:ext cx="8353306" cy="37599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4" name="Text 29"/>
          <p:cNvSpPr/>
          <p:nvPr/>
        </p:nvSpPr>
        <p:spPr>
          <a:xfrm>
            <a:off x="3284934" y="5327571"/>
            <a:ext cx="1097399" cy="186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Random Forest</a:t>
            </a:r>
            <a:endParaRPr lang="en-US" sz="900" dirty="0"/>
          </a:p>
        </p:txBody>
      </p:sp>
      <p:sp>
        <p:nvSpPr>
          <p:cNvPr id="35" name="Text 30"/>
          <p:cNvSpPr/>
          <p:nvPr/>
        </p:nvSpPr>
        <p:spPr>
          <a:xfrm>
            <a:off x="4680942" y="5327571"/>
            <a:ext cx="1093589" cy="186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0.8762</a:t>
            </a:r>
            <a:endParaRPr lang="en-US" sz="900" dirty="0"/>
          </a:p>
        </p:txBody>
      </p:sp>
      <p:sp>
        <p:nvSpPr>
          <p:cNvPr id="36" name="Text 31"/>
          <p:cNvSpPr/>
          <p:nvPr/>
        </p:nvSpPr>
        <p:spPr>
          <a:xfrm>
            <a:off x="6073140" y="5327571"/>
            <a:ext cx="1093589" cy="186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0.9228</a:t>
            </a:r>
            <a:endParaRPr lang="en-US" sz="900" dirty="0"/>
          </a:p>
        </p:txBody>
      </p:sp>
      <p:sp>
        <p:nvSpPr>
          <p:cNvPr id="37" name="Text 32"/>
          <p:cNvSpPr/>
          <p:nvPr/>
        </p:nvSpPr>
        <p:spPr>
          <a:xfrm>
            <a:off x="7465338" y="5327571"/>
            <a:ext cx="1093589" cy="186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0.9166</a:t>
            </a:r>
            <a:endParaRPr lang="en-US" sz="900" dirty="0"/>
          </a:p>
        </p:txBody>
      </p:sp>
      <p:sp>
        <p:nvSpPr>
          <p:cNvPr id="38" name="Text 33"/>
          <p:cNvSpPr/>
          <p:nvPr/>
        </p:nvSpPr>
        <p:spPr>
          <a:xfrm>
            <a:off x="8857536" y="5327571"/>
            <a:ext cx="1093589" cy="186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0.9037</a:t>
            </a:r>
            <a:endParaRPr lang="en-US" sz="900" dirty="0"/>
          </a:p>
        </p:txBody>
      </p:sp>
      <p:sp>
        <p:nvSpPr>
          <p:cNvPr id="39" name="Text 34"/>
          <p:cNvSpPr/>
          <p:nvPr/>
        </p:nvSpPr>
        <p:spPr>
          <a:xfrm>
            <a:off x="10249733" y="5327571"/>
            <a:ext cx="1097399" cy="186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0.9298</a:t>
            </a:r>
            <a:endParaRPr lang="en-US" sz="900" dirty="0"/>
          </a:p>
        </p:txBody>
      </p:sp>
      <p:sp>
        <p:nvSpPr>
          <p:cNvPr id="40" name="Shape 35"/>
          <p:cNvSpPr/>
          <p:nvPr/>
        </p:nvSpPr>
        <p:spPr>
          <a:xfrm>
            <a:off x="3139321" y="5608677"/>
            <a:ext cx="8353306" cy="37599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1" name="Text 36"/>
          <p:cNvSpPr/>
          <p:nvPr/>
        </p:nvSpPr>
        <p:spPr>
          <a:xfrm>
            <a:off x="3284934" y="5703570"/>
            <a:ext cx="1097399" cy="186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SVM</a:t>
            </a:r>
            <a:endParaRPr lang="en-US" sz="900" dirty="0"/>
          </a:p>
        </p:txBody>
      </p:sp>
      <p:sp>
        <p:nvSpPr>
          <p:cNvPr id="42" name="Text 37"/>
          <p:cNvSpPr/>
          <p:nvPr/>
        </p:nvSpPr>
        <p:spPr>
          <a:xfrm>
            <a:off x="4680942" y="5703570"/>
            <a:ext cx="1093589" cy="186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0.5223</a:t>
            </a:r>
            <a:endParaRPr lang="en-US" sz="900" dirty="0"/>
          </a:p>
        </p:txBody>
      </p:sp>
      <p:sp>
        <p:nvSpPr>
          <p:cNvPr id="43" name="Text 38"/>
          <p:cNvSpPr/>
          <p:nvPr/>
        </p:nvSpPr>
        <p:spPr>
          <a:xfrm>
            <a:off x="6073140" y="5703570"/>
            <a:ext cx="1093589" cy="186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0.6997</a:t>
            </a:r>
            <a:endParaRPr lang="en-US" sz="900" dirty="0"/>
          </a:p>
        </p:txBody>
      </p:sp>
      <p:sp>
        <p:nvSpPr>
          <p:cNvPr id="44" name="Text 39"/>
          <p:cNvSpPr/>
          <p:nvPr/>
        </p:nvSpPr>
        <p:spPr>
          <a:xfrm>
            <a:off x="7465338" y="5703570"/>
            <a:ext cx="1093589" cy="186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0.5759</a:t>
            </a:r>
            <a:endParaRPr lang="en-US" sz="900" dirty="0"/>
          </a:p>
        </p:txBody>
      </p:sp>
      <p:sp>
        <p:nvSpPr>
          <p:cNvPr id="45" name="Text 40"/>
          <p:cNvSpPr/>
          <p:nvPr/>
        </p:nvSpPr>
        <p:spPr>
          <a:xfrm>
            <a:off x="8857536" y="5703570"/>
            <a:ext cx="1093589" cy="186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0.8209</a:t>
            </a:r>
            <a:endParaRPr lang="en-US" sz="900" dirty="0"/>
          </a:p>
        </p:txBody>
      </p:sp>
      <p:sp>
        <p:nvSpPr>
          <p:cNvPr id="46" name="Text 41"/>
          <p:cNvSpPr/>
          <p:nvPr/>
        </p:nvSpPr>
        <p:spPr>
          <a:xfrm>
            <a:off x="10249733" y="5703570"/>
            <a:ext cx="1097399" cy="186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0.4436</a:t>
            </a:r>
            <a:endParaRPr lang="en-US" sz="900" dirty="0"/>
          </a:p>
        </p:txBody>
      </p:sp>
      <p:sp>
        <p:nvSpPr>
          <p:cNvPr id="47" name="Shape 42"/>
          <p:cNvSpPr/>
          <p:nvPr/>
        </p:nvSpPr>
        <p:spPr>
          <a:xfrm>
            <a:off x="3139321" y="5984677"/>
            <a:ext cx="8353306" cy="37599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48" name="Text 43"/>
          <p:cNvSpPr/>
          <p:nvPr/>
        </p:nvSpPr>
        <p:spPr>
          <a:xfrm>
            <a:off x="3284934" y="6079569"/>
            <a:ext cx="1097399" cy="186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Logistic Regression</a:t>
            </a:r>
            <a:endParaRPr lang="en-US" sz="900" dirty="0"/>
          </a:p>
        </p:txBody>
      </p:sp>
      <p:sp>
        <p:nvSpPr>
          <p:cNvPr id="49" name="Text 44"/>
          <p:cNvSpPr/>
          <p:nvPr/>
        </p:nvSpPr>
        <p:spPr>
          <a:xfrm>
            <a:off x="4680942" y="6079569"/>
            <a:ext cx="1093589" cy="186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0.6481</a:t>
            </a:r>
            <a:endParaRPr lang="en-US" sz="900" dirty="0"/>
          </a:p>
        </p:txBody>
      </p:sp>
      <p:sp>
        <p:nvSpPr>
          <p:cNvPr id="50" name="Text 45"/>
          <p:cNvSpPr/>
          <p:nvPr/>
        </p:nvSpPr>
        <p:spPr>
          <a:xfrm>
            <a:off x="6073140" y="6079569"/>
            <a:ext cx="1093589" cy="186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0.7262</a:t>
            </a:r>
            <a:endParaRPr lang="en-US" sz="900" dirty="0"/>
          </a:p>
        </p:txBody>
      </p:sp>
      <p:sp>
        <p:nvSpPr>
          <p:cNvPr id="51" name="Text 46"/>
          <p:cNvSpPr/>
          <p:nvPr/>
        </p:nvSpPr>
        <p:spPr>
          <a:xfrm>
            <a:off x="7465338" y="6079569"/>
            <a:ext cx="1093589" cy="186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0.7224</a:t>
            </a:r>
            <a:endParaRPr lang="en-US" sz="900" dirty="0"/>
          </a:p>
        </p:txBody>
      </p:sp>
      <p:sp>
        <p:nvSpPr>
          <p:cNvPr id="52" name="Text 47"/>
          <p:cNvSpPr/>
          <p:nvPr/>
        </p:nvSpPr>
        <p:spPr>
          <a:xfrm>
            <a:off x="8857536" y="6079569"/>
            <a:ext cx="1093589" cy="186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0.8537</a:t>
            </a:r>
            <a:endParaRPr lang="en-US" sz="900" dirty="0"/>
          </a:p>
        </p:txBody>
      </p:sp>
      <p:sp>
        <p:nvSpPr>
          <p:cNvPr id="53" name="Text 48"/>
          <p:cNvSpPr/>
          <p:nvPr/>
        </p:nvSpPr>
        <p:spPr>
          <a:xfrm>
            <a:off x="10249733" y="6079569"/>
            <a:ext cx="1097399" cy="186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0.6261</a:t>
            </a:r>
            <a:endParaRPr lang="en-US" sz="900" dirty="0"/>
          </a:p>
        </p:txBody>
      </p:sp>
      <p:sp>
        <p:nvSpPr>
          <p:cNvPr id="54" name="Shape 49"/>
          <p:cNvSpPr/>
          <p:nvPr/>
        </p:nvSpPr>
        <p:spPr>
          <a:xfrm>
            <a:off x="3139321" y="6360676"/>
            <a:ext cx="8353306" cy="37599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5" name="Text 50"/>
          <p:cNvSpPr/>
          <p:nvPr/>
        </p:nvSpPr>
        <p:spPr>
          <a:xfrm>
            <a:off x="3284934" y="6455569"/>
            <a:ext cx="1097399" cy="186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LightGBM (Tuned)</a:t>
            </a:r>
            <a:endParaRPr lang="en-US" sz="900" dirty="0"/>
          </a:p>
        </p:txBody>
      </p:sp>
      <p:sp>
        <p:nvSpPr>
          <p:cNvPr id="56" name="Text 51"/>
          <p:cNvSpPr/>
          <p:nvPr/>
        </p:nvSpPr>
        <p:spPr>
          <a:xfrm>
            <a:off x="4680942" y="6455569"/>
            <a:ext cx="1093589" cy="186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0.9044</a:t>
            </a:r>
            <a:endParaRPr lang="en-US" sz="900" dirty="0"/>
          </a:p>
        </p:txBody>
      </p:sp>
      <p:sp>
        <p:nvSpPr>
          <p:cNvPr id="57" name="Text 52"/>
          <p:cNvSpPr/>
          <p:nvPr/>
        </p:nvSpPr>
        <p:spPr>
          <a:xfrm>
            <a:off x="6073140" y="6455569"/>
            <a:ext cx="1093589" cy="186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0.9605</a:t>
            </a:r>
            <a:endParaRPr lang="en-US" sz="900" dirty="0"/>
          </a:p>
        </p:txBody>
      </p:sp>
      <p:sp>
        <p:nvSpPr>
          <p:cNvPr id="58" name="Text 53"/>
          <p:cNvSpPr/>
          <p:nvPr/>
        </p:nvSpPr>
        <p:spPr>
          <a:xfrm>
            <a:off x="7465338" y="6455569"/>
            <a:ext cx="1093589" cy="186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0.9327</a:t>
            </a:r>
            <a:endParaRPr lang="en-US" sz="900" dirty="0"/>
          </a:p>
        </p:txBody>
      </p:sp>
      <p:sp>
        <p:nvSpPr>
          <p:cNvPr id="59" name="Text 54"/>
          <p:cNvSpPr/>
          <p:nvPr/>
        </p:nvSpPr>
        <p:spPr>
          <a:xfrm>
            <a:off x="8857536" y="6455569"/>
            <a:ext cx="1093589" cy="186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0.9615</a:t>
            </a:r>
            <a:endParaRPr lang="en-US" sz="900" dirty="0"/>
          </a:p>
        </p:txBody>
      </p:sp>
      <p:sp>
        <p:nvSpPr>
          <p:cNvPr id="60" name="Text 55"/>
          <p:cNvSpPr/>
          <p:nvPr/>
        </p:nvSpPr>
        <p:spPr>
          <a:xfrm>
            <a:off x="10249733" y="6455569"/>
            <a:ext cx="1097399" cy="186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0.9055</a:t>
            </a:r>
            <a:endParaRPr lang="en-US" sz="900" dirty="0"/>
          </a:p>
        </p:txBody>
      </p:sp>
      <p:sp>
        <p:nvSpPr>
          <p:cNvPr id="61" name="Shape 56"/>
          <p:cNvSpPr/>
          <p:nvPr/>
        </p:nvSpPr>
        <p:spPr>
          <a:xfrm>
            <a:off x="3139321" y="6736675"/>
            <a:ext cx="8353306" cy="37599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62" name="Text 57"/>
          <p:cNvSpPr/>
          <p:nvPr/>
        </p:nvSpPr>
        <p:spPr>
          <a:xfrm>
            <a:off x="3284934" y="6831568"/>
            <a:ext cx="1097399" cy="186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XGBoost (Tuned)</a:t>
            </a:r>
            <a:endParaRPr lang="en-US" sz="900" dirty="0"/>
          </a:p>
        </p:txBody>
      </p:sp>
      <p:sp>
        <p:nvSpPr>
          <p:cNvPr id="63" name="Text 58"/>
          <p:cNvSpPr/>
          <p:nvPr/>
        </p:nvSpPr>
        <p:spPr>
          <a:xfrm>
            <a:off x="4680942" y="6831568"/>
            <a:ext cx="1093589" cy="186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0.9004</a:t>
            </a:r>
            <a:endParaRPr lang="en-US" sz="900" dirty="0"/>
          </a:p>
        </p:txBody>
      </p:sp>
      <p:sp>
        <p:nvSpPr>
          <p:cNvPr id="64" name="Text 59"/>
          <p:cNvSpPr/>
          <p:nvPr/>
        </p:nvSpPr>
        <p:spPr>
          <a:xfrm>
            <a:off x="6073140" y="6831568"/>
            <a:ext cx="1093589" cy="186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0.9601</a:t>
            </a:r>
            <a:endParaRPr lang="en-US" sz="900" dirty="0"/>
          </a:p>
        </p:txBody>
      </p:sp>
      <p:sp>
        <p:nvSpPr>
          <p:cNvPr id="65" name="Text 60"/>
          <p:cNvSpPr/>
          <p:nvPr/>
        </p:nvSpPr>
        <p:spPr>
          <a:xfrm>
            <a:off x="7465338" y="6831568"/>
            <a:ext cx="1093589" cy="186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0.9299</a:t>
            </a:r>
            <a:endParaRPr lang="en-US" sz="900" dirty="0"/>
          </a:p>
        </p:txBody>
      </p:sp>
      <p:sp>
        <p:nvSpPr>
          <p:cNvPr id="66" name="Text 61"/>
          <p:cNvSpPr/>
          <p:nvPr/>
        </p:nvSpPr>
        <p:spPr>
          <a:xfrm>
            <a:off x="8857536" y="6831568"/>
            <a:ext cx="1093589" cy="186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0.9577</a:t>
            </a:r>
            <a:endParaRPr lang="en-US" sz="900" dirty="0"/>
          </a:p>
        </p:txBody>
      </p:sp>
      <p:sp>
        <p:nvSpPr>
          <p:cNvPr id="67" name="Text 62"/>
          <p:cNvSpPr/>
          <p:nvPr/>
        </p:nvSpPr>
        <p:spPr>
          <a:xfrm>
            <a:off x="10249733" y="6831568"/>
            <a:ext cx="1097399" cy="186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0.9037</a:t>
            </a:r>
            <a:endParaRPr lang="en-US" sz="900" dirty="0"/>
          </a:p>
        </p:txBody>
      </p:sp>
      <p:sp>
        <p:nvSpPr>
          <p:cNvPr id="68" name="Shape 63"/>
          <p:cNvSpPr/>
          <p:nvPr/>
        </p:nvSpPr>
        <p:spPr>
          <a:xfrm>
            <a:off x="3139321" y="7112675"/>
            <a:ext cx="8353306" cy="56221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9" name="Text 64"/>
          <p:cNvSpPr/>
          <p:nvPr/>
        </p:nvSpPr>
        <p:spPr>
          <a:xfrm>
            <a:off x="3284934" y="7207568"/>
            <a:ext cx="1097399" cy="372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Random Forest (Tuned)</a:t>
            </a:r>
            <a:endParaRPr lang="en-US" sz="900" dirty="0"/>
          </a:p>
        </p:txBody>
      </p:sp>
      <p:sp>
        <p:nvSpPr>
          <p:cNvPr id="70" name="Text 65"/>
          <p:cNvSpPr/>
          <p:nvPr/>
        </p:nvSpPr>
        <p:spPr>
          <a:xfrm>
            <a:off x="4680942" y="7207568"/>
            <a:ext cx="1093589" cy="186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0.8769</a:t>
            </a:r>
            <a:endParaRPr lang="en-US" sz="900" dirty="0"/>
          </a:p>
        </p:txBody>
      </p:sp>
      <p:sp>
        <p:nvSpPr>
          <p:cNvPr id="71" name="Text 66"/>
          <p:cNvSpPr/>
          <p:nvPr/>
        </p:nvSpPr>
        <p:spPr>
          <a:xfrm>
            <a:off x="6073140" y="7207568"/>
            <a:ext cx="1093589" cy="186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0.9323</a:t>
            </a:r>
            <a:endParaRPr lang="en-US" sz="900" dirty="0"/>
          </a:p>
        </p:txBody>
      </p:sp>
      <p:sp>
        <p:nvSpPr>
          <p:cNvPr id="72" name="Text 67"/>
          <p:cNvSpPr/>
          <p:nvPr/>
        </p:nvSpPr>
        <p:spPr>
          <a:xfrm>
            <a:off x="7465338" y="7207568"/>
            <a:ext cx="1093589" cy="186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0.9149</a:t>
            </a:r>
            <a:endParaRPr lang="en-US" sz="900" dirty="0"/>
          </a:p>
        </p:txBody>
      </p:sp>
      <p:sp>
        <p:nvSpPr>
          <p:cNvPr id="73" name="Text 68"/>
          <p:cNvSpPr/>
          <p:nvPr/>
        </p:nvSpPr>
        <p:spPr>
          <a:xfrm>
            <a:off x="8857536" y="7207568"/>
            <a:ext cx="1093589" cy="186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0.9254</a:t>
            </a:r>
            <a:endParaRPr lang="en-US" sz="900" dirty="0"/>
          </a:p>
        </p:txBody>
      </p:sp>
      <p:sp>
        <p:nvSpPr>
          <p:cNvPr id="74" name="Text 69"/>
          <p:cNvSpPr/>
          <p:nvPr/>
        </p:nvSpPr>
        <p:spPr>
          <a:xfrm>
            <a:off x="10249733" y="7207568"/>
            <a:ext cx="1097399" cy="186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0.9046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2326124" y="721043"/>
            <a:ext cx="9978033" cy="10846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Evaluation of Machine Learning Model Generalization</a:t>
            </a:r>
            <a:endParaRPr lang="en-US" sz="3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6124" y="2152650"/>
            <a:ext cx="433745" cy="43374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326124" y="2759869"/>
            <a:ext cx="3181469" cy="10844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Model generalization capabilities were assessed by </a:t>
            </a:r>
            <a:r>
              <a:rPr lang="en-US" sz="1700" b="1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comparing train and test ROC AUC</a:t>
            </a:r>
            <a:r>
              <a:rPr lang="en-US" sz="17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 scores across all algorithms.</a:t>
            </a:r>
            <a:endParaRPr lang="en-US" sz="17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4406" y="2152650"/>
            <a:ext cx="433745" cy="43374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724406" y="2759869"/>
            <a:ext cx="3181469" cy="13555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Some untuned models initially showed  signs of overfitting, particularly Random Forest with a 0.0766 gap between train and test scores.</a:t>
            </a:r>
            <a:endParaRPr lang="en-US" sz="17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2688" y="2152650"/>
            <a:ext cx="433745" cy="43374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122688" y="2759869"/>
            <a:ext cx="3181469" cy="18977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Hyperparameter tuning via RandomizedSearchCV significantly reduced these gaps while improving test performance. This confirms the importance of regularization for real-world deployment.</a:t>
            </a:r>
            <a:endParaRPr lang="en-US" sz="17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3916" y="4852749"/>
            <a:ext cx="5302329" cy="2178606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5474851" y="7031355"/>
            <a:ext cx="173474" cy="173474"/>
          </a:xfrm>
          <a:prstGeom prst="roundRect">
            <a:avLst>
              <a:gd name="adj" fmla="val 10542"/>
            </a:avLst>
          </a:prstGeom>
          <a:solidFill>
            <a:srgbClr val="1D302C"/>
          </a:solidFill>
          <a:ln/>
        </p:spPr>
      </p:sp>
      <p:sp>
        <p:nvSpPr>
          <p:cNvPr id="12" name="Text 6"/>
          <p:cNvSpPr/>
          <p:nvPr/>
        </p:nvSpPr>
        <p:spPr>
          <a:xfrm>
            <a:off x="5709285" y="7031355"/>
            <a:ext cx="1529596" cy="173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Before Tuning Gap</a:t>
            </a:r>
            <a:endParaRPr lang="en-US" sz="1350" dirty="0"/>
          </a:p>
        </p:txBody>
      </p:sp>
      <p:sp>
        <p:nvSpPr>
          <p:cNvPr id="13" name="Shape 7"/>
          <p:cNvSpPr/>
          <p:nvPr/>
        </p:nvSpPr>
        <p:spPr>
          <a:xfrm>
            <a:off x="7391281" y="7031355"/>
            <a:ext cx="173474" cy="173474"/>
          </a:xfrm>
          <a:prstGeom prst="roundRect">
            <a:avLst>
              <a:gd name="adj" fmla="val 10542"/>
            </a:avLst>
          </a:prstGeom>
          <a:solidFill>
            <a:srgbClr val="3E685E"/>
          </a:solidFill>
          <a:ln/>
        </p:spPr>
      </p:sp>
      <p:sp>
        <p:nvSpPr>
          <p:cNvPr id="14" name="Text 8"/>
          <p:cNvSpPr/>
          <p:nvPr/>
        </p:nvSpPr>
        <p:spPr>
          <a:xfrm>
            <a:off x="7625715" y="7031355"/>
            <a:ext cx="1405414" cy="173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After Tuning Gap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329464" y="625078"/>
            <a:ext cx="6050161" cy="433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34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Benchmarking Against Previous Studies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329464" y="1335405"/>
            <a:ext cx="7971353" cy="221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endParaRPr lang="en-US" sz="10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9464" y="1712952"/>
            <a:ext cx="346472" cy="346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329464" y="2198013"/>
            <a:ext cx="3899059" cy="865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The first, conducted by Lbazri et al. (2020) on the French railway network, utilized Random Forest and SVM. Their best model achieved a test accuracy of 85.38%.</a:t>
            </a:r>
            <a:endParaRPr lang="en-US" sz="16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1758" y="1712952"/>
            <a:ext cx="346472" cy="34647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01758" y="2198013"/>
            <a:ext cx="3899059" cy="865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The second benchmark study by Pineda-Jaramillo and Viti (2023), focused on freight rail delays in Luxembourg, used CatBoost and reported a ROC AUC of 0.82 and F1-score of 0.89.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3329464" y="3219688"/>
            <a:ext cx="7971353" cy="221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2826872" y="3782258"/>
            <a:ext cx="9610164" cy="665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6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These benchmarking results confirm the </a:t>
            </a:r>
            <a:r>
              <a:rPr lang="en-US" sz="16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relevance of the proposed model</a:t>
            </a:r>
            <a:r>
              <a:rPr lang="en-US" sz="16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for the Saudi context and reinforce the advantage of integrating temporal encodings, cost-sensitive training, and contextual features in delay prediction systems.</a:t>
            </a:r>
            <a:endParaRPr lang="en-US" sz="16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3356" y="4764440"/>
            <a:ext cx="5565537" cy="2840082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5516047" y="7236535"/>
            <a:ext cx="146495" cy="159219"/>
          </a:xfrm>
          <a:prstGeom prst="roundRect">
            <a:avLst>
              <a:gd name="adj" fmla="val 13196"/>
            </a:avLst>
          </a:prstGeom>
          <a:solidFill>
            <a:srgbClr val="1D302C"/>
          </a:solidFill>
          <a:ln/>
        </p:spPr>
      </p:sp>
      <p:sp>
        <p:nvSpPr>
          <p:cNvPr id="13" name="Text 8"/>
          <p:cNvSpPr/>
          <p:nvPr/>
        </p:nvSpPr>
        <p:spPr>
          <a:xfrm>
            <a:off x="5715595" y="7236535"/>
            <a:ext cx="659351" cy="159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ROC AUC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6491764" y="7236535"/>
            <a:ext cx="146495" cy="159219"/>
          </a:xfrm>
          <a:prstGeom prst="roundRect">
            <a:avLst>
              <a:gd name="adj" fmla="val 13196"/>
            </a:avLst>
          </a:prstGeom>
          <a:solidFill>
            <a:srgbClr val="3E685E"/>
          </a:solidFill>
          <a:ln/>
        </p:spPr>
      </p:sp>
      <p:sp>
        <p:nvSpPr>
          <p:cNvPr id="15" name="Text 10"/>
          <p:cNvSpPr/>
          <p:nvPr/>
        </p:nvSpPr>
        <p:spPr>
          <a:xfrm>
            <a:off x="6691312" y="7236535"/>
            <a:ext cx="633677" cy="159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Accuracy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3329464" y="7462123"/>
            <a:ext cx="7971353" cy="221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011198" y="2107168"/>
            <a:ext cx="12204383" cy="685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50"/>
              </a:lnSpc>
              <a:buNone/>
            </a:pPr>
            <a:r>
              <a:rPr lang="en-US" sz="43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Practical Implications for Saudi Operations</a:t>
            </a:r>
            <a:endParaRPr lang="en-US" sz="4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198" y="3230880"/>
            <a:ext cx="548164" cy="5481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11198" y="3998238"/>
            <a:ext cx="2740819" cy="342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Identify Risk Periods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1011198" y="4472226"/>
            <a:ext cx="4019907" cy="1052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Predict delays during holidays and extreme weather events with greater accuracy.</a:t>
            </a:r>
            <a:endParaRPr lang="en-US" sz="17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5187" y="3230880"/>
            <a:ext cx="548164" cy="54816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305187" y="3998238"/>
            <a:ext cx="2740819" cy="342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Proactive Planning</a:t>
            </a:r>
            <a:endParaRPr lang="en-US" sz="2150" dirty="0"/>
          </a:p>
        </p:txBody>
      </p:sp>
      <p:sp>
        <p:nvSpPr>
          <p:cNvPr id="9" name="Text 5"/>
          <p:cNvSpPr/>
          <p:nvPr/>
        </p:nvSpPr>
        <p:spPr>
          <a:xfrm>
            <a:off x="5305187" y="4472226"/>
            <a:ext cx="4019907" cy="1052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Adjust schedules and resource allocation based on contextual variables.</a:t>
            </a:r>
            <a:endParaRPr lang="en-US" sz="17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9176" y="3230880"/>
            <a:ext cx="548164" cy="54816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599176" y="3998238"/>
            <a:ext cx="2740819" cy="342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Communication</a:t>
            </a:r>
            <a:endParaRPr lang="en-US" sz="2150" dirty="0"/>
          </a:p>
        </p:txBody>
      </p:sp>
      <p:sp>
        <p:nvSpPr>
          <p:cNvPr id="12" name="Text 7"/>
          <p:cNvSpPr/>
          <p:nvPr/>
        </p:nvSpPr>
        <p:spPr>
          <a:xfrm>
            <a:off x="9599176" y="4472226"/>
            <a:ext cx="4020026" cy="1052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Alert passengers preemptively about potential disruptions to improve satisfaction.</a:t>
            </a:r>
            <a:endParaRPr lang="en-US" sz="1700" dirty="0"/>
          </a:p>
        </p:txBody>
      </p:sp>
      <p:sp>
        <p:nvSpPr>
          <p:cNvPr id="13" name="Text 8"/>
          <p:cNvSpPr/>
          <p:nvPr/>
        </p:nvSpPr>
        <p:spPr>
          <a:xfrm>
            <a:off x="1011198" y="5771436"/>
            <a:ext cx="12608004" cy="350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endParaRPr lang="en-US" sz="1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011198" y="1039654"/>
            <a:ext cx="5481637" cy="685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50"/>
              </a:lnSpc>
              <a:buNone/>
            </a:pPr>
            <a:r>
              <a:rPr lang="en-US" sz="43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Study Limitations</a:t>
            </a:r>
            <a:endParaRPr lang="en-US" sz="4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198" y="2163366"/>
            <a:ext cx="548164" cy="5481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11198" y="2930723"/>
            <a:ext cx="2740819" cy="342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Historical Data Only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1011198" y="3404711"/>
            <a:ext cx="6166961" cy="1052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Models validated on 2023-2024 data but not tested in live operations. This limits responsiveness to evolving delay triggers in real-time scenarios.</a:t>
            </a:r>
            <a:endParaRPr lang="en-US" sz="17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241" y="2163366"/>
            <a:ext cx="548164" cy="54816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52241" y="2930723"/>
            <a:ext cx="3624024" cy="342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Independent Journey Analysis</a:t>
            </a:r>
            <a:endParaRPr lang="en-US" sz="2150" dirty="0"/>
          </a:p>
        </p:txBody>
      </p:sp>
      <p:sp>
        <p:nvSpPr>
          <p:cNvPr id="9" name="Text 5"/>
          <p:cNvSpPr/>
          <p:nvPr/>
        </p:nvSpPr>
        <p:spPr>
          <a:xfrm>
            <a:off x="7452241" y="3404711"/>
            <a:ext cx="6166961" cy="1052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Each train journey treated separately, overlooking network-level dynamics like cascading delays and track occupancy conflicts.</a:t>
            </a:r>
            <a:endParaRPr lang="en-US" sz="17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1198" y="4895850"/>
            <a:ext cx="548164" cy="54816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11198" y="5663208"/>
            <a:ext cx="2967633" cy="342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Regional Climate Factors</a:t>
            </a:r>
            <a:endParaRPr lang="en-US" sz="2150" dirty="0"/>
          </a:p>
        </p:txBody>
      </p:sp>
      <p:sp>
        <p:nvSpPr>
          <p:cNvPr id="12" name="Text 7"/>
          <p:cNvSpPr/>
          <p:nvPr/>
        </p:nvSpPr>
        <p:spPr>
          <a:xfrm>
            <a:off x="1011198" y="6137196"/>
            <a:ext cx="6166961" cy="1052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Global weather datasets used don't fully capture unique Middle Eastern phenomena like dust storms and thermal inversions that affect operations.</a:t>
            </a:r>
            <a:endParaRPr lang="en-US" sz="1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2557105" y="698897"/>
            <a:ext cx="9516189" cy="1034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32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Conclusion – Advancing Delay Prediction</a:t>
            </a:r>
            <a:endParaRPr lang="en-US" sz="3250" dirty="0"/>
          </a:p>
        </p:txBody>
      </p:sp>
      <p:sp>
        <p:nvSpPr>
          <p:cNvPr id="4" name="Text 2"/>
          <p:cNvSpPr/>
          <p:nvPr/>
        </p:nvSpPr>
        <p:spPr>
          <a:xfrm>
            <a:off x="2557105" y="2063948"/>
            <a:ext cx="9516189" cy="7943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This research successfully bridges a critical gap in Middle East railway operations through machine learning-based delay prediction. By integrating region-specific data, we've created a framework that captures unique delay triggers within the Saudi context.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03770" y="3044428"/>
            <a:ext cx="22860" cy="4085034"/>
          </a:xfrm>
          <a:prstGeom prst="roundRect">
            <a:avLst>
              <a:gd name="adj" fmla="val 304062"/>
            </a:avLst>
          </a:prstGeom>
          <a:solidFill>
            <a:srgbClr val="C5D2CF"/>
          </a:solidFill>
          <a:ln/>
        </p:spPr>
      </p:sp>
      <p:sp>
        <p:nvSpPr>
          <p:cNvPr id="6" name="Shape 4"/>
          <p:cNvSpPr/>
          <p:nvPr/>
        </p:nvSpPr>
        <p:spPr>
          <a:xfrm>
            <a:off x="6655534" y="3219093"/>
            <a:ext cx="496372" cy="22860"/>
          </a:xfrm>
          <a:prstGeom prst="roundRect">
            <a:avLst>
              <a:gd name="adj" fmla="val 304062"/>
            </a:avLst>
          </a:prstGeom>
          <a:solidFill>
            <a:srgbClr val="C5D2CF"/>
          </a:solidFill>
          <a:ln/>
        </p:spPr>
      </p:sp>
      <p:sp>
        <p:nvSpPr>
          <p:cNvPr id="7" name="Shape 5"/>
          <p:cNvSpPr/>
          <p:nvPr/>
        </p:nvSpPr>
        <p:spPr>
          <a:xfrm>
            <a:off x="7129046" y="3044428"/>
            <a:ext cx="372308" cy="372308"/>
          </a:xfrm>
          <a:prstGeom prst="roundRect">
            <a:avLst>
              <a:gd name="adj" fmla="val 18670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1077" y="3075384"/>
            <a:ext cx="248126" cy="31027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419243" y="3101221"/>
            <a:ext cx="2068592" cy="258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000"/>
              </a:lnSpc>
              <a:buNone/>
            </a:pPr>
            <a:r>
              <a:rPr lang="en-US" sz="16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Data Integration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2557105" y="3458885"/>
            <a:ext cx="3930729" cy="7943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05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Combined operational, environmental, and calendar datasets spanning 2023-2024 to capture Saudi-specific delay patterns.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478494" y="4211836"/>
            <a:ext cx="496372" cy="22860"/>
          </a:xfrm>
          <a:prstGeom prst="roundRect">
            <a:avLst>
              <a:gd name="adj" fmla="val 304062"/>
            </a:avLst>
          </a:prstGeom>
          <a:solidFill>
            <a:srgbClr val="C5D2CF"/>
          </a:solidFill>
          <a:ln/>
        </p:spPr>
      </p:sp>
      <p:sp>
        <p:nvSpPr>
          <p:cNvPr id="12" name="Shape 9"/>
          <p:cNvSpPr/>
          <p:nvPr/>
        </p:nvSpPr>
        <p:spPr>
          <a:xfrm>
            <a:off x="7129046" y="4037171"/>
            <a:ext cx="372308" cy="372308"/>
          </a:xfrm>
          <a:prstGeom prst="roundRect">
            <a:avLst>
              <a:gd name="adj" fmla="val 18670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1077" y="4068128"/>
            <a:ext cx="248126" cy="31027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142565" y="4093964"/>
            <a:ext cx="2068592" cy="258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Insight Discovery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8142565" y="4451628"/>
            <a:ext cx="3930729" cy="7943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Confirmed the significant impact of seasonal variation, route direction, and weather patterns on delay occurrence.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655534" y="5067538"/>
            <a:ext cx="496372" cy="22860"/>
          </a:xfrm>
          <a:prstGeom prst="roundRect">
            <a:avLst>
              <a:gd name="adj" fmla="val 304062"/>
            </a:avLst>
          </a:prstGeom>
          <a:solidFill>
            <a:srgbClr val="C5D2CF"/>
          </a:solidFill>
          <a:ln/>
        </p:spPr>
      </p:sp>
      <p:sp>
        <p:nvSpPr>
          <p:cNvPr id="17" name="Shape 13"/>
          <p:cNvSpPr/>
          <p:nvPr/>
        </p:nvSpPr>
        <p:spPr>
          <a:xfrm>
            <a:off x="7129046" y="4892873"/>
            <a:ext cx="372308" cy="372308"/>
          </a:xfrm>
          <a:prstGeom prst="roundRect">
            <a:avLst>
              <a:gd name="adj" fmla="val 18670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1077" y="4923830"/>
            <a:ext cx="248126" cy="31027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419243" y="4949666"/>
            <a:ext cx="2068592" cy="258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000"/>
              </a:lnSpc>
              <a:buNone/>
            </a:pPr>
            <a:r>
              <a:rPr lang="en-US" sz="16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Model Development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2557105" y="5307330"/>
            <a:ext cx="3930729" cy="7943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05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LightGBM emerged as the superior model with 0.9605 ROC AUC and 0.9327 F1-score, outperforming previous studies.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7478494" y="5923359"/>
            <a:ext cx="496372" cy="22860"/>
          </a:xfrm>
          <a:prstGeom prst="roundRect">
            <a:avLst>
              <a:gd name="adj" fmla="val 304062"/>
            </a:avLst>
          </a:prstGeom>
          <a:solidFill>
            <a:srgbClr val="C5D2CF"/>
          </a:solidFill>
          <a:ln/>
        </p:spPr>
      </p:sp>
      <p:sp>
        <p:nvSpPr>
          <p:cNvPr id="22" name="Shape 17"/>
          <p:cNvSpPr/>
          <p:nvPr/>
        </p:nvSpPr>
        <p:spPr>
          <a:xfrm>
            <a:off x="7129046" y="5748695"/>
            <a:ext cx="372308" cy="372308"/>
          </a:xfrm>
          <a:prstGeom prst="roundRect">
            <a:avLst>
              <a:gd name="adj" fmla="val 18670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91077" y="5779651"/>
            <a:ext cx="248126" cy="310277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142565" y="5805488"/>
            <a:ext cx="2068592" cy="258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Practical Application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8142565" y="6163151"/>
            <a:ext cx="3930729" cy="7943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Established a robust foundation for data-driven operational planning and decision support.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2557105" y="7315557"/>
            <a:ext cx="9516189" cy="264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888450" y="762833"/>
            <a:ext cx="10853380" cy="11794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7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Future Work - Toward Real-Time, Resilient Rail Predictions</a:t>
            </a:r>
            <a:endParaRPr lang="en-US" sz="3700" dirty="0"/>
          </a:p>
        </p:txBody>
      </p:sp>
      <p:sp>
        <p:nvSpPr>
          <p:cNvPr id="4" name="Shape 2"/>
          <p:cNvSpPr/>
          <p:nvPr/>
        </p:nvSpPr>
        <p:spPr>
          <a:xfrm>
            <a:off x="7303651" y="2319695"/>
            <a:ext cx="22860" cy="4659273"/>
          </a:xfrm>
          <a:prstGeom prst="roundRect">
            <a:avLst>
              <a:gd name="adj" fmla="val 346791"/>
            </a:avLst>
          </a:prstGeom>
          <a:solidFill>
            <a:srgbClr val="C5D2CF"/>
          </a:solidFill>
          <a:ln/>
        </p:spPr>
      </p:sp>
      <p:sp>
        <p:nvSpPr>
          <p:cNvPr id="5" name="Shape 3"/>
          <p:cNvSpPr/>
          <p:nvPr/>
        </p:nvSpPr>
        <p:spPr>
          <a:xfrm>
            <a:off x="6559510" y="2520553"/>
            <a:ext cx="566142" cy="22860"/>
          </a:xfrm>
          <a:prstGeom prst="roundRect">
            <a:avLst>
              <a:gd name="adj" fmla="val 346791"/>
            </a:avLst>
          </a:prstGeom>
          <a:solidFill>
            <a:srgbClr val="C5D2CF"/>
          </a:solidFill>
          <a:ln/>
        </p:spPr>
      </p:sp>
      <p:sp>
        <p:nvSpPr>
          <p:cNvPr id="6" name="Shape 4"/>
          <p:cNvSpPr/>
          <p:nvPr/>
        </p:nvSpPr>
        <p:spPr>
          <a:xfrm>
            <a:off x="7102793" y="2319695"/>
            <a:ext cx="424577" cy="424577"/>
          </a:xfrm>
          <a:prstGeom prst="roundRect">
            <a:avLst>
              <a:gd name="adj" fmla="val 18672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3575" y="2355056"/>
            <a:ext cx="283012" cy="35385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565565" y="2384465"/>
            <a:ext cx="2805827" cy="294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3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Real-Time Data Integration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1888450" y="2792611"/>
            <a:ext cx="4482941" cy="905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35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Incorporate live sensor readings and dispatch logs for dynamic responsiveness in operational environments.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7504509" y="3652957"/>
            <a:ext cx="566142" cy="22860"/>
          </a:xfrm>
          <a:prstGeom prst="roundRect">
            <a:avLst>
              <a:gd name="adj" fmla="val 346791"/>
            </a:avLst>
          </a:prstGeom>
          <a:solidFill>
            <a:srgbClr val="C5D2CF"/>
          </a:solidFill>
          <a:ln/>
        </p:spPr>
      </p:sp>
      <p:sp>
        <p:nvSpPr>
          <p:cNvPr id="11" name="Shape 8"/>
          <p:cNvSpPr/>
          <p:nvPr/>
        </p:nvSpPr>
        <p:spPr>
          <a:xfrm>
            <a:off x="7102793" y="3452098"/>
            <a:ext cx="424577" cy="424577"/>
          </a:xfrm>
          <a:prstGeom prst="roundRect">
            <a:avLst>
              <a:gd name="adj" fmla="val 18672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3575" y="3487460"/>
            <a:ext cx="283012" cy="35385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258770" y="3516868"/>
            <a:ext cx="2625447" cy="294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Inter-Train Dependencies</a:t>
            </a:r>
            <a:endParaRPr lang="en-US" sz="1850" dirty="0"/>
          </a:p>
        </p:txBody>
      </p:sp>
      <p:sp>
        <p:nvSpPr>
          <p:cNvPr id="14" name="Text 10"/>
          <p:cNvSpPr/>
          <p:nvPr/>
        </p:nvSpPr>
        <p:spPr>
          <a:xfrm>
            <a:off x="8258770" y="3925014"/>
            <a:ext cx="4483060" cy="603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Model cascading delays using graph-based representations to capture network complexity.</a:t>
            </a:r>
            <a:endParaRPr lang="en-US" sz="1450" dirty="0"/>
          </a:p>
        </p:txBody>
      </p:sp>
      <p:sp>
        <p:nvSpPr>
          <p:cNvPr id="15" name="Shape 11"/>
          <p:cNvSpPr/>
          <p:nvPr/>
        </p:nvSpPr>
        <p:spPr>
          <a:xfrm>
            <a:off x="6559510" y="4629031"/>
            <a:ext cx="566142" cy="22860"/>
          </a:xfrm>
          <a:prstGeom prst="roundRect">
            <a:avLst>
              <a:gd name="adj" fmla="val 346791"/>
            </a:avLst>
          </a:prstGeom>
          <a:solidFill>
            <a:srgbClr val="C5D2CF"/>
          </a:solidFill>
          <a:ln/>
        </p:spPr>
      </p:sp>
      <p:sp>
        <p:nvSpPr>
          <p:cNvPr id="16" name="Shape 12"/>
          <p:cNvSpPr/>
          <p:nvPr/>
        </p:nvSpPr>
        <p:spPr>
          <a:xfrm>
            <a:off x="7102793" y="4428173"/>
            <a:ext cx="424577" cy="424577"/>
          </a:xfrm>
          <a:prstGeom prst="roundRect">
            <a:avLst>
              <a:gd name="adj" fmla="val 18672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3575" y="4463534"/>
            <a:ext cx="283012" cy="35385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673078" y="4492942"/>
            <a:ext cx="2698313" cy="294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3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Localized Weather Factors</a:t>
            </a:r>
            <a:endParaRPr lang="en-US" sz="1850" dirty="0"/>
          </a:p>
        </p:txBody>
      </p:sp>
      <p:sp>
        <p:nvSpPr>
          <p:cNvPr id="19" name="Text 14"/>
          <p:cNvSpPr/>
          <p:nvPr/>
        </p:nvSpPr>
        <p:spPr>
          <a:xfrm>
            <a:off x="1888450" y="4901089"/>
            <a:ext cx="4482941" cy="905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35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Refine predictions with desert-specific phenomena like dust storms and rapid humidity shifts.</a:t>
            </a:r>
            <a:endParaRPr lang="en-US" sz="1450" dirty="0"/>
          </a:p>
        </p:txBody>
      </p:sp>
      <p:sp>
        <p:nvSpPr>
          <p:cNvPr id="20" name="Shape 15"/>
          <p:cNvSpPr/>
          <p:nvPr/>
        </p:nvSpPr>
        <p:spPr>
          <a:xfrm>
            <a:off x="7504509" y="5605105"/>
            <a:ext cx="566142" cy="22860"/>
          </a:xfrm>
          <a:prstGeom prst="roundRect">
            <a:avLst>
              <a:gd name="adj" fmla="val 346791"/>
            </a:avLst>
          </a:prstGeom>
          <a:solidFill>
            <a:srgbClr val="C5D2CF"/>
          </a:solidFill>
          <a:ln/>
        </p:spPr>
      </p:sp>
      <p:sp>
        <p:nvSpPr>
          <p:cNvPr id="21" name="Shape 16"/>
          <p:cNvSpPr/>
          <p:nvPr/>
        </p:nvSpPr>
        <p:spPr>
          <a:xfrm>
            <a:off x="7102793" y="5404247"/>
            <a:ext cx="424577" cy="424577"/>
          </a:xfrm>
          <a:prstGeom prst="roundRect">
            <a:avLst>
              <a:gd name="adj" fmla="val 18672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3575" y="5439608"/>
            <a:ext cx="283012" cy="35385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258770" y="5469017"/>
            <a:ext cx="2359343" cy="294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Prescriptive Analytics</a:t>
            </a:r>
            <a:endParaRPr lang="en-US" sz="1850" dirty="0"/>
          </a:p>
        </p:txBody>
      </p:sp>
      <p:sp>
        <p:nvSpPr>
          <p:cNvPr id="24" name="Text 18"/>
          <p:cNvSpPr/>
          <p:nvPr/>
        </p:nvSpPr>
        <p:spPr>
          <a:xfrm>
            <a:off x="8258770" y="5877163"/>
            <a:ext cx="4483060" cy="905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Evolve from prediction to actionable recommendations for schedule adjustments and strategic rerouting.</a:t>
            </a:r>
            <a:endParaRPr lang="en-US" sz="1450" dirty="0"/>
          </a:p>
        </p:txBody>
      </p:sp>
      <p:sp>
        <p:nvSpPr>
          <p:cNvPr id="25" name="Text 19"/>
          <p:cNvSpPr/>
          <p:nvPr/>
        </p:nvSpPr>
        <p:spPr>
          <a:xfrm>
            <a:off x="1888450" y="7191256"/>
            <a:ext cx="10853380" cy="301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endParaRPr lang="en-US" sz="14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011198" y="3196709"/>
            <a:ext cx="5481637" cy="685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50"/>
              </a:lnSpc>
              <a:buNone/>
            </a:pPr>
            <a:r>
              <a:rPr lang="en-US" sz="4300" b="1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Acknowledgment</a:t>
            </a:r>
            <a:endParaRPr lang="en-US" sz="4300" dirty="0"/>
          </a:p>
        </p:txBody>
      </p:sp>
      <p:sp>
        <p:nvSpPr>
          <p:cNvPr id="4" name="Text 2"/>
          <p:cNvSpPr/>
          <p:nvPr/>
        </p:nvSpPr>
        <p:spPr>
          <a:xfrm>
            <a:off x="1011198" y="4210764"/>
            <a:ext cx="12387143" cy="822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Grateful thanks to my supervisor, Dr. Nourah Albarakati, for her support and guidance. 
</a:t>
            </a:r>
            <a:endParaRPr lang="en-US" sz="25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011198" y="1044262"/>
            <a:ext cx="5481637" cy="685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50"/>
              </a:lnSpc>
              <a:buNone/>
            </a:pPr>
            <a:r>
              <a:rPr lang="en-US" sz="43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References</a:t>
            </a:r>
            <a:endParaRPr lang="en-US" sz="4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3198" y="3035020"/>
            <a:ext cx="2987061" cy="298095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583198" y="6076711"/>
            <a:ext cx="2619375" cy="28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Scan to view full reference list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173022" y="3026569"/>
            <a:ext cx="9453682" cy="350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336</TotalTime>
  <Words>1957</Words>
  <Application>Microsoft Office PowerPoint</Application>
  <PresentationFormat>Custom</PresentationFormat>
  <Paragraphs>280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Kanit Light</vt:lpstr>
      <vt:lpstr>Martel Sans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ABDULAZIZ ABDULLAH</cp:lastModifiedBy>
  <cp:revision>13</cp:revision>
  <dcterms:created xsi:type="dcterms:W3CDTF">2025-05-09T17:40:41Z</dcterms:created>
  <dcterms:modified xsi:type="dcterms:W3CDTF">2025-12-31T12:01:11Z</dcterms:modified>
</cp:coreProperties>
</file>